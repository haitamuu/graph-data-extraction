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napToObjects="1">
      <p:cViewPr varScale="1">
        <p:scale>
          <a:sx n="74" d="100"/>
          <a:sy n="74" d="100"/>
        </p:scale>
        <p:origin x="1042"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6672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Présentation du développement de l'outil : de l'idée initiale au pipeline actuel, avec les problèmes rencontrés et ce qui reste à faire. Durée visée : environ 10 minutes.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Beaucoup de données scientifiques ne sont disponibles que sous forme de figures dans des articles. Les outils existants (WebPlotDigitizer...) demandent de cliquer sur les axes et sur chaque courbe. Notre exigence : zéro saisie, y compris plusieurs courbes dans la même image.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Chaque image traverse six étapes. Les deux premières lisent l'image comme un humain (axes, légende), les suivantes isolent les courbes et convertissent les pixels en valeurs. La dernière écrit un Excel et une image de contrôle pour vérifier visuellement.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 début du projet, on a juste lancé EasyOCR sur l'image brute. Le résultat était un tas de textes sans structure. L'OCR lisait très mal les petits chiffres des axes. On n'avait aucune correspondance pixel-valeur.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premiers essais pour extraire les courbes étaient très naïfs. On utilisait des seuillages de couleur manuels codés en dur. Si l'image contenait plusieurs courbes, elles étaient toutes mélangées dans un même nuage de points.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L'astuce reprise du dépôt GTE.py : agrandir l'image et la binariser avant l'OCR, sinon les petits chiffres sont illisibles. Ensuite, les chiffres de l'axe X sont alignés horizontalement et ceux de l'axe Y verticalement. Un ajustement avec consensus (type RANSAC) écarte les chiffres mal lus. Si moins de 4 graduations sont cohérentes (ou 3 régulièrement espacées), on n'invente pas d'échelle : on bascule en pixels et on le signale.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travaille sur la teinte et non sur le RGB, parce que la teinte est stable quand la couleur est plus claire ou plus foncée (anti-aliasing). La teinte est un angle : on la projette sur un cercle (cos, sin) pour que rouge à 0 et rouge à 179 soient voisins. MeanShift trouve seul le nombre de courbes, contrairement à KMeans.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 soustraction : on part de tous les pixels sombres et on enlève tout ce qui n'est pas la courbe. Le texte est effacé grâce aux boîtes de l'OCR, les axes et la grille avec une ouverture morphologique (un trait horizontal ou vertical d'au moins 40 pixels), puis les courbes colorées. Ce qui reste est la courbe. Piège rencontré : contourArea vaut 0 pour une ligne d'un pixel, il faut arcLength.</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Idée inspirée de GraphMaster : pour chaque texte qui n'est pas un nombre, on cherche une pastille de couleur à sa gauche. Un vrai carré ou trait de légende est plein ; les chiffres et lettres sont rejetés par leur forme. Ensuite appariement un-pour-un avec les courbes par distance de couleur. Limite : si la légende est écrite en texte (Dots / Lines) il n'y a pas de pastille, donc nom générique. Note : le dépôt GraphMaster public ne contient que le README, pas le code : on s'est inspiré de la méthode décrite, pas du code.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Cas le plus complet. La calibration X était fausse (5 → 10) avant l'ajustement robuste ; elle est maintenant correcte. Le point noir : la courbe noire mélange points et trait.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points isolés deviennent une courbe en escalier. Piste d'amélioration : détecter les centres de marqueurs (composantes connexes) pour restituer les points réels.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Exemple de limite honnête. On préfère un résultat en pixels, clairement signalé, plutôt qu'un résultat qui a l'air juste mais dont l'échelle est fausse. Une amélioration possible : reconnaître π.</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Explication de la logique RANSAC</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Explication de la logique MeanShift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Explication de la morphologie mathématique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à raconter comme un retour d'expérience. Le plus formateur : les erreurs silencieuses, par exemple une légende qui était en réalité un titre d'axe, ou un mélange RGB/BGR dans la comparaison des couleurs.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Honnêteté : une partie du code était dupliquée à cause d'un mauvais assemblage de fichiers ; elle a été supprimée. Les gains de vitesse viennent surtout de la vectorisation et du plafonnement de l'agrandissement. Le temps total reste dominé par l'OCR, qui tourne sur CPU.</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trois premières perspectives sont déjà identifiées : échelles logarithmiques, courbes qui ne sont pas des fonctions de x (boucles, spirales) avec suivi de trajectoire, et deux axes Y. Aucun taux de précision chiffré n'est présenté : la validation actuelle est visuelle.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final : la chaîne complète fonctionne sans aucune saisie, elle signale ses limites plutôt que de les cacher, et elle est prête à être étendue.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46120"/>
            <a:ext cx="1463040" cy="73152"/>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554480"/>
            <a:ext cx="10515600" cy="1645920"/>
          </a:xfrm>
          <a:prstGeom prst="rect">
            <a:avLst/>
          </a:prstGeom>
          <a:noFill/>
        </p:spPr>
        <p:txBody>
          <a:bodyPr wrap="square" anchor="t">
            <a:spAutoFit/>
          </a:bodyPr>
          <a:lstStyle/>
          <a:p>
            <a:pPr algn="l"/>
            <a:r>
              <a:rPr sz="4200" b="1">
                <a:solidFill>
                  <a:srgbClr val="FFFFFF"/>
                </a:solidFill>
              </a:rPr>
              <a:t>Extraction automatique de courbes
à partir d'images de graphes</a:t>
            </a:r>
          </a:p>
        </p:txBody>
      </p:sp>
      <p:sp>
        <p:nvSpPr>
          <p:cNvPr id="5" name="TextBox 4"/>
          <p:cNvSpPr txBox="1"/>
          <p:nvPr/>
        </p:nvSpPr>
        <p:spPr>
          <a:xfrm>
            <a:off x="731520" y="3474720"/>
            <a:ext cx="10515600" cy="548640"/>
          </a:xfrm>
          <a:prstGeom prst="rect">
            <a:avLst/>
          </a:prstGeom>
          <a:noFill/>
        </p:spPr>
        <p:txBody>
          <a:bodyPr wrap="square" anchor="t">
            <a:spAutoFit/>
          </a:bodyPr>
          <a:lstStyle/>
          <a:p>
            <a:pPr algn="l"/>
            <a:r>
              <a:rPr sz="2200" b="0">
                <a:solidFill>
                  <a:srgbClr val="B8C7DA"/>
                </a:solidFill>
              </a:rPr>
              <a:t>OCR + vision par ordinateur  →  données Excel, sans aucune saisie manuelle</a:t>
            </a:r>
          </a:p>
        </p:txBody>
      </p:sp>
      <p:sp>
        <p:nvSpPr>
          <p:cNvPr id="6" name="TextBox 5"/>
          <p:cNvSpPr txBox="1"/>
          <p:nvPr/>
        </p:nvSpPr>
        <p:spPr>
          <a:xfrm>
            <a:off x="731520" y="5852160"/>
            <a:ext cx="10515600" cy="457200"/>
          </a:xfrm>
          <a:prstGeom prst="rect">
            <a:avLst/>
          </a:prstGeom>
          <a:noFill/>
        </p:spPr>
        <p:txBody>
          <a:bodyPr wrap="square" anchor="t">
            <a:spAutoFit/>
          </a:bodyPr>
          <a:lstStyle/>
          <a:p>
            <a:pPr algn="l"/>
            <a:r>
              <a:rPr sz="1600" b="0">
                <a:solidFill>
                  <a:srgbClr val="8FA3BC"/>
                </a:solidFill>
              </a:rPr>
              <a:t>Projet technique – EMSE, 2A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Contexte et objectif</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Pourquoi extraire des données depuis une image ?</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2</a:t>
            </a:r>
          </a:p>
        </p:txBody>
      </p:sp>
      <p:sp>
        <p:nvSpPr>
          <p:cNvPr id="7" name="TextBox 6"/>
          <p:cNvSpPr txBox="1"/>
          <p:nvPr/>
        </p:nvSpPr>
        <p:spPr>
          <a:xfrm>
            <a:off x="640080" y="1463040"/>
            <a:ext cx="10972800" cy="4572000"/>
          </a:xfrm>
          <a:prstGeom prst="rect">
            <a:avLst/>
          </a:prstGeom>
          <a:noFill/>
        </p:spPr>
        <p:txBody>
          <a:bodyPr wrap="square">
            <a:spAutoFit/>
          </a:bodyPr>
          <a:lstStyle/>
          <a:p>
            <a:pPr>
              <a:spcAft>
                <a:spcPts val="900"/>
              </a:spcAft>
            </a:pPr>
            <a:r>
              <a:rPr sz="2400">
                <a:solidFill>
                  <a:srgbClr val="14233C"/>
                </a:solidFill>
              </a:rPr>
              <a:t>• Les résultats publiés sont souvent des figures : la donnée brute n'est pas fournie</a:t>
            </a:r>
          </a:p>
          <a:p>
            <a:pPr>
              <a:spcAft>
                <a:spcPts val="900"/>
              </a:spcAft>
            </a:pPr>
            <a:r>
              <a:rPr sz="2400">
                <a:solidFill>
                  <a:srgbClr val="14233C"/>
                </a:solidFill>
              </a:rPr>
              <a:t>• Les outils manuels demandent de calibrer les axes et de cliquer sur chaque courbe</a:t>
            </a:r>
          </a:p>
          <a:p>
            <a:pPr>
              <a:spcAft>
                <a:spcPts val="900"/>
              </a:spcAft>
            </a:pPr>
            <a:r>
              <a:rPr sz="2400">
                <a:solidFill>
                  <a:srgbClr val="14233C"/>
                </a:solidFill>
              </a:rPr>
              <a:t>• Objectif : image en entrée → fichier Excel en sortie, 100 % automatique</a:t>
            </a:r>
          </a:p>
          <a:p>
            <a:pPr lvl="1">
              <a:spcAft>
                <a:spcPts val="900"/>
              </a:spcAft>
            </a:pPr>
            <a:r>
              <a:rPr sz="2100">
                <a:solidFill>
                  <a:srgbClr val="555E6B"/>
                </a:solidFill>
              </a:rPr>
              <a:t>– Plusieurs courbes dans un même graphe, séparées et exportées chacune</a:t>
            </a:r>
          </a:p>
          <a:p>
            <a:pPr lvl="1">
              <a:spcAft>
                <a:spcPts val="900"/>
              </a:spcAft>
            </a:pPr>
            <a:r>
              <a:rPr sz="2100">
                <a:solidFill>
                  <a:srgbClr val="555E6B"/>
                </a:solidFill>
              </a:rPr>
              <a:t>– Échelles lues directement dans l'image (OCR), pas saisies par l'utilisateur</a:t>
            </a:r>
          </a:p>
          <a:p>
            <a:pPr lvl="1">
              <a:spcAft>
                <a:spcPts val="900"/>
              </a:spcAft>
            </a:pPr>
            <a:r>
              <a:rPr sz="2100">
                <a:solidFill>
                  <a:srgbClr val="555E6B"/>
                </a:solidFill>
              </a:rPr>
              <a:t>– Courbes colorées et courbes noires/grises</a:t>
            </a:r>
          </a:p>
          <a:p>
            <a:pPr>
              <a:spcAft>
                <a:spcPts val="900"/>
              </a:spcAft>
            </a:pPr>
            <a:r>
              <a:rPr sz="2400">
                <a:solidFill>
                  <a:srgbClr val="14233C"/>
                </a:solidFill>
              </a:rPr>
              <a:t>• Contrainte : une erreur silencieuse est pire qu'un échec signalé</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Architecture du pipeline</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Un seul script : main.py</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3</a:t>
            </a:r>
          </a:p>
        </p:txBody>
      </p:sp>
      <p:sp>
        <p:nvSpPr>
          <p:cNvPr id="7" name="Rounded Rectangle 6"/>
          <p:cNvSpPr/>
          <p:nvPr/>
        </p:nvSpPr>
        <p:spPr>
          <a:xfrm>
            <a:off x="457200" y="2377440"/>
            <a:ext cx="1645920" cy="1280160"/>
          </a:xfrm>
          <a:prstGeom prst="round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900" b="1">
                <a:solidFill>
                  <a:srgbClr val="FFFFFF"/>
                </a:solidFill>
              </a:rPr>
              <a:t>Image</a:t>
            </a:r>
          </a:p>
          <a:p>
            <a:pPr algn="ctr"/>
            <a:r>
              <a:rPr sz="1600" b="0">
                <a:solidFill>
                  <a:srgbClr val="FFFFFF"/>
                </a:solidFill>
              </a:rPr>
              <a:t>PNG / JPG</a:t>
            </a:r>
          </a:p>
        </p:txBody>
      </p:sp>
      <p:sp>
        <p:nvSpPr>
          <p:cNvPr id="8" name="Right Arrow 7"/>
          <p:cNvSpPr/>
          <p:nvPr/>
        </p:nvSpPr>
        <p:spPr>
          <a:xfrm>
            <a:off x="2103120" y="2834640"/>
            <a:ext cx="274320" cy="320040"/>
          </a:xfrm>
          <a:prstGeom prst="rightArrow">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377440" y="2377440"/>
            <a:ext cx="1645920" cy="1280160"/>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900" b="1">
                <a:solidFill>
                  <a:srgbClr val="FFFFFF"/>
                </a:solidFill>
              </a:rPr>
              <a:t>OCR</a:t>
            </a:r>
          </a:p>
          <a:p>
            <a:pPr algn="ctr"/>
            <a:r>
              <a:rPr sz="1600" b="0">
                <a:solidFill>
                  <a:srgbClr val="FFFFFF"/>
                </a:solidFill>
              </a:rPr>
              <a:t>texte + chiffres</a:t>
            </a:r>
          </a:p>
        </p:txBody>
      </p:sp>
      <p:sp>
        <p:nvSpPr>
          <p:cNvPr id="10" name="Right Arrow 9"/>
          <p:cNvSpPr/>
          <p:nvPr/>
        </p:nvSpPr>
        <p:spPr>
          <a:xfrm>
            <a:off x="4023360" y="2834640"/>
            <a:ext cx="274320" cy="320040"/>
          </a:xfrm>
          <a:prstGeom prst="rightArrow">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297680" y="2377440"/>
            <a:ext cx="1645920" cy="1280160"/>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900" b="1">
                <a:solidFill>
                  <a:srgbClr val="FFFFFF"/>
                </a:solidFill>
              </a:rPr>
              <a:t>Calibration</a:t>
            </a:r>
          </a:p>
          <a:p>
            <a:pPr algn="ctr"/>
            <a:r>
              <a:rPr sz="1600" b="0">
                <a:solidFill>
                  <a:srgbClr val="FFFFFF"/>
                </a:solidFill>
              </a:rPr>
              <a:t>pixel → valeur</a:t>
            </a:r>
          </a:p>
        </p:txBody>
      </p:sp>
      <p:sp>
        <p:nvSpPr>
          <p:cNvPr id="12" name="Right Arrow 11"/>
          <p:cNvSpPr/>
          <p:nvPr/>
        </p:nvSpPr>
        <p:spPr>
          <a:xfrm>
            <a:off x="5943600" y="2834640"/>
            <a:ext cx="274320" cy="320040"/>
          </a:xfrm>
          <a:prstGeom prst="rightArrow">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217920" y="2377440"/>
            <a:ext cx="1645920" cy="1280160"/>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900" b="1">
                <a:solidFill>
                  <a:srgbClr val="FFFFFF"/>
                </a:solidFill>
              </a:rPr>
              <a:t>Courbes</a:t>
            </a:r>
          </a:p>
          <a:p>
            <a:pPr algn="ctr"/>
            <a:r>
              <a:rPr sz="1600" b="0">
                <a:solidFill>
                  <a:srgbClr val="FFFFFF"/>
                </a:solidFill>
              </a:rPr>
              <a:t>couleur + noir</a:t>
            </a:r>
          </a:p>
        </p:txBody>
      </p:sp>
      <p:sp>
        <p:nvSpPr>
          <p:cNvPr id="14" name="Right Arrow 13"/>
          <p:cNvSpPr/>
          <p:nvPr/>
        </p:nvSpPr>
        <p:spPr>
          <a:xfrm>
            <a:off x="7863840" y="2834640"/>
            <a:ext cx="274320" cy="320040"/>
          </a:xfrm>
          <a:prstGeom prst="rightArrow">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138160" y="2377440"/>
            <a:ext cx="1645920" cy="1280160"/>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900" b="1">
                <a:solidFill>
                  <a:srgbClr val="FFFFFF"/>
                </a:solidFill>
              </a:rPr>
              <a:t>Légendes</a:t>
            </a:r>
          </a:p>
          <a:p>
            <a:pPr algn="ctr"/>
            <a:r>
              <a:rPr sz="1600" b="0">
                <a:solidFill>
                  <a:srgbClr val="FFFFFF"/>
                </a:solidFill>
              </a:rPr>
              <a:t>nom des courbes</a:t>
            </a:r>
          </a:p>
        </p:txBody>
      </p:sp>
      <p:sp>
        <p:nvSpPr>
          <p:cNvPr id="16" name="Right Arrow 15"/>
          <p:cNvSpPr/>
          <p:nvPr/>
        </p:nvSpPr>
        <p:spPr>
          <a:xfrm>
            <a:off x="9784080" y="2834640"/>
            <a:ext cx="274320" cy="320040"/>
          </a:xfrm>
          <a:prstGeom prst="rightArrow">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0058400" y="2377440"/>
            <a:ext cx="1645920" cy="1280160"/>
          </a:xfrm>
          <a:prstGeom prst="round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900" b="1">
                <a:solidFill>
                  <a:srgbClr val="FFFFFF"/>
                </a:solidFill>
              </a:rPr>
              <a:t>Export</a:t>
            </a:r>
          </a:p>
          <a:p>
            <a:pPr algn="ctr"/>
            <a:r>
              <a:rPr sz="1600" b="0">
                <a:solidFill>
                  <a:srgbClr val="FFFFFF"/>
                </a:solidFill>
              </a:rPr>
              <a:t>Excel + contrôle</a:t>
            </a:r>
          </a:p>
        </p:txBody>
      </p:sp>
      <p:sp>
        <p:nvSpPr>
          <p:cNvPr id="18" name="TextBox 17"/>
          <p:cNvSpPr txBox="1"/>
          <p:nvPr/>
        </p:nvSpPr>
        <p:spPr>
          <a:xfrm>
            <a:off x="457200" y="4114800"/>
            <a:ext cx="11247120" cy="457200"/>
          </a:xfrm>
          <a:prstGeom prst="rect">
            <a:avLst/>
          </a:prstGeom>
          <a:noFill/>
        </p:spPr>
        <p:txBody>
          <a:bodyPr wrap="square" anchor="t">
            <a:spAutoFit/>
          </a:bodyPr>
          <a:lstStyle/>
          <a:p>
            <a:pPr algn="ctr"/>
            <a:r>
              <a:rPr sz="2000" b="1">
                <a:solidFill>
                  <a:srgbClr val="555E6B"/>
                </a:solidFill>
              </a:rPr>
              <a:t>Principe : on reproduit ce que fait l'œil humain, étape par étape</a:t>
            </a:r>
          </a:p>
        </p:txBody>
      </p:sp>
      <p:sp>
        <p:nvSpPr>
          <p:cNvPr id="19" name="TextBox 18"/>
          <p:cNvSpPr txBox="1"/>
          <p:nvPr/>
        </p:nvSpPr>
        <p:spPr>
          <a:xfrm>
            <a:off x="640080" y="4754880"/>
            <a:ext cx="10972800" cy="1645920"/>
          </a:xfrm>
          <a:prstGeom prst="rect">
            <a:avLst/>
          </a:prstGeom>
          <a:noFill/>
        </p:spPr>
        <p:txBody>
          <a:bodyPr wrap="square">
            <a:spAutoFit/>
          </a:bodyPr>
          <a:lstStyle/>
          <a:p>
            <a:pPr>
              <a:spcAft>
                <a:spcPts val="900"/>
              </a:spcAft>
            </a:pPr>
            <a:r>
              <a:rPr sz="1800">
                <a:solidFill>
                  <a:srgbClr val="14233C"/>
                </a:solidFill>
              </a:rPr>
              <a:t>• Bibliothèques : OpenCV (image), EasyOCR (texte), scikit-learn (clustering), pandas (Excel), matplotlib (contrôle)</a:t>
            </a:r>
          </a:p>
          <a:p>
            <a:pPr>
              <a:spcAft>
                <a:spcPts val="900"/>
              </a:spcAft>
            </a:pPr>
            <a:r>
              <a:rPr sz="1800">
                <a:solidFill>
                  <a:srgbClr val="14233C"/>
                </a:solidFill>
              </a:rPr>
              <a:t>• Dossier images/ en entrée, dossier data/ en sortie (un .xlsx et une image de vérification par graphe)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Les débuts : Premières analyses OCR</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Script ocr_ext.py et résultats bruts</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4</a:t>
            </a:r>
          </a:p>
        </p:txBody>
      </p:sp>
      <p:sp>
        <p:nvSpPr>
          <p:cNvPr id="7" name="TextBox 6"/>
          <p:cNvSpPr txBox="1"/>
          <p:nvPr/>
        </p:nvSpPr>
        <p:spPr>
          <a:xfrm>
            <a:off x="640080" y="1463040"/>
            <a:ext cx="10058400" cy="4114800"/>
          </a:xfrm>
          <a:prstGeom prst="rect">
            <a:avLst/>
          </a:prstGeom>
          <a:noFill/>
        </p:spPr>
        <p:txBody>
          <a:bodyPr wrap="square">
            <a:spAutoFit/>
          </a:bodyPr>
          <a:lstStyle/>
          <a:p>
            <a:pPr>
              <a:spcAft>
                <a:spcPts val="900"/>
              </a:spcAft>
            </a:pPr>
            <a:r>
              <a:rPr sz="2200">
                <a:solidFill>
                  <a:srgbClr val="14233C"/>
                </a:solidFill>
              </a:rPr>
              <a:t>• Approche initiale : lancer EasyOCR directement sur l'image sans prétraitement (script ocr_ext.py)</a:t>
            </a:r>
          </a:p>
          <a:p>
            <a:pPr>
              <a:spcAft>
                <a:spcPts val="900"/>
              </a:spcAft>
            </a:pPr>
            <a:r>
              <a:rPr sz="2200">
                <a:solidFill>
                  <a:srgbClr val="14233C"/>
                </a:solidFill>
              </a:rPr>
              <a:t>• Constats de ces premiers tests :</a:t>
            </a:r>
          </a:p>
          <a:p>
            <a:pPr lvl="1">
              <a:spcAft>
                <a:spcPts val="900"/>
              </a:spcAft>
            </a:pPr>
            <a:r>
              <a:rPr sz="1900">
                <a:solidFill>
                  <a:srgbClr val="555E6B"/>
                </a:solidFill>
              </a:rPr>
              <a:t>– Les petits chiffres des graduations étaient ignorés ou très mal lus</a:t>
            </a:r>
          </a:p>
          <a:p>
            <a:pPr lvl="1">
              <a:spcAft>
                <a:spcPts val="900"/>
              </a:spcAft>
            </a:pPr>
            <a:r>
              <a:rPr sz="1900">
                <a:solidFill>
                  <a:srgbClr val="555E6B"/>
                </a:solidFill>
              </a:rPr>
              <a:t>– Les tirets de graduation étaient confondus avec des signes moins (-)</a:t>
            </a:r>
          </a:p>
          <a:p>
            <a:pPr lvl="1">
              <a:spcAft>
                <a:spcPts val="900"/>
              </a:spcAft>
            </a:pPr>
            <a:r>
              <a:rPr sz="1900">
                <a:solidFill>
                  <a:srgbClr val="555E6B"/>
                </a:solidFill>
              </a:rPr>
              <a:t>– Le texte des légendes se mélangeait avec les axes de manière désordonnée</a:t>
            </a:r>
          </a:p>
          <a:p>
            <a:pPr lvl="1">
              <a:spcAft>
                <a:spcPts val="900"/>
              </a:spcAft>
            </a:pPr>
            <a:r>
              <a:rPr sz="1900">
                <a:solidFill>
                  <a:srgbClr val="555E6B"/>
                </a:solidFill>
              </a:rPr>
              <a:t>– Aucune notion d'échelle : les textes étaient juste détectés à des coordonnées arbitraires</a:t>
            </a:r>
          </a:p>
          <a:p>
            <a:pPr>
              <a:spcAft>
                <a:spcPts val="900"/>
              </a:spcAft>
            </a:pPr>
            <a:r>
              <a:rPr sz="2200">
                <a:solidFill>
                  <a:srgbClr val="14233C"/>
                </a:solidFill>
              </a:rPr>
              <a:t>• Conclusion : l'OCR brut ne suffisait pas, il fallait une vraie phase de calibration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Les débuts : Premiers codes d'extraction</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Scripts graphify_main.py et proc.py</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5</a:t>
            </a:r>
          </a:p>
        </p:txBody>
      </p:sp>
      <p:sp>
        <p:nvSpPr>
          <p:cNvPr id="7" name="TextBox 6"/>
          <p:cNvSpPr txBox="1"/>
          <p:nvPr/>
        </p:nvSpPr>
        <p:spPr>
          <a:xfrm>
            <a:off x="457200" y="1463040"/>
            <a:ext cx="6400800" cy="4114800"/>
          </a:xfrm>
          <a:prstGeom prst="rect">
            <a:avLst/>
          </a:prstGeom>
          <a:noFill/>
        </p:spPr>
        <p:txBody>
          <a:bodyPr wrap="square">
            <a:spAutoFit/>
          </a:bodyPr>
          <a:lstStyle/>
          <a:p>
            <a:pPr>
              <a:spcAft>
                <a:spcPts val="900"/>
              </a:spcAft>
            </a:pPr>
            <a:r>
              <a:rPr sz="2000">
                <a:solidFill>
                  <a:srgbClr val="14233C"/>
                </a:solidFill>
              </a:rPr>
              <a:t>• Premières tentatives (scripts graphify_main.py, proc.py) :</a:t>
            </a:r>
          </a:p>
          <a:p>
            <a:pPr>
              <a:spcAft>
                <a:spcPts val="900"/>
              </a:spcAft>
            </a:pPr>
            <a:r>
              <a:rPr sz="2000">
                <a:solidFill>
                  <a:srgbClr val="14233C"/>
                </a:solidFill>
              </a:rPr>
              <a:t>• Méthode naïve : seuillage de couleurs avec des plages codées en dur</a:t>
            </a:r>
          </a:p>
          <a:p>
            <a:pPr lvl="1">
              <a:spcAft>
                <a:spcPts val="900"/>
              </a:spcAft>
            </a:pPr>
            <a:r>
              <a:rPr sz="1700">
                <a:solidFill>
                  <a:srgbClr val="555E6B"/>
                </a:solidFill>
              </a:rPr>
              <a:t>– Très fragile face au changement d'éclairage ou d'anti-aliasing</a:t>
            </a:r>
          </a:p>
          <a:p>
            <a:pPr>
              <a:spcAft>
                <a:spcPts val="900"/>
              </a:spcAft>
            </a:pPr>
            <a:r>
              <a:rPr sz="2000">
                <a:solidFill>
                  <a:srgbClr val="14233C"/>
                </a:solidFill>
              </a:rPr>
              <a:t>• Problème majeur : le mélange des courbes</a:t>
            </a:r>
          </a:p>
          <a:p>
            <a:pPr lvl="1">
              <a:spcAft>
                <a:spcPts val="900"/>
              </a:spcAft>
            </a:pPr>
            <a:r>
              <a:rPr sz="1700">
                <a:solidFill>
                  <a:srgbClr val="555E6B"/>
                </a:solidFill>
              </a:rPr>
              <a:t>– Toutes les courbes colorées étaient fusionnées en un seul nuage de points</a:t>
            </a:r>
          </a:p>
          <a:p>
            <a:pPr lvl="1">
              <a:spcAft>
                <a:spcPts val="900"/>
              </a:spcAft>
            </a:pPr>
            <a:r>
              <a:rPr sz="1700">
                <a:solidFill>
                  <a:srgbClr val="555E6B"/>
                </a:solidFill>
              </a:rPr>
              <a:t>– L'axe Y restait inversé (l'origine de l'image OpenCV est en haut à gauche)</a:t>
            </a:r>
          </a:p>
        </p:txBody>
      </p:sp>
      <p:pic>
        <p:nvPicPr>
          <p:cNvPr id="8" name="Picture 7" descr="bad_result_mixed.png"/>
          <p:cNvPicPr>
            <a:picLocks noChangeAspect="1"/>
          </p:cNvPicPr>
          <p:nvPr/>
        </p:nvPicPr>
        <p:blipFill>
          <a:blip r:embed="rId3"/>
          <a:stretch>
            <a:fillRect/>
          </a:stretch>
        </p:blipFill>
        <p:spPr>
          <a:xfrm>
            <a:off x="6949440" y="2164080"/>
            <a:ext cx="4754880" cy="3169919"/>
          </a:xfrm>
          <a:prstGeom prst="rect">
            <a:avLst/>
          </a:prstGeom>
        </p:spPr>
      </p:pic>
      <p:sp>
        <p:nvSpPr>
          <p:cNvPr id="9" name="TextBox 8"/>
          <p:cNvSpPr txBox="1"/>
          <p:nvPr/>
        </p:nvSpPr>
        <p:spPr>
          <a:xfrm>
            <a:off x="6949440" y="6126480"/>
            <a:ext cx="4754880" cy="457200"/>
          </a:xfrm>
          <a:prstGeom prst="rect">
            <a:avLst/>
          </a:prstGeom>
          <a:noFill/>
        </p:spPr>
        <p:txBody>
          <a:bodyPr wrap="square" anchor="t">
            <a:spAutoFit/>
          </a:bodyPr>
          <a:lstStyle/>
          <a:p>
            <a:pPr algn="ctr"/>
            <a:r>
              <a:rPr sz="1400" b="0">
                <a:solidFill>
                  <a:srgbClr val="555E6B"/>
                </a:solidFill>
              </a:rPr>
              <a:t>Résultat brut : les 3 courbes mélangées, axe inversé</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Étape 1 – Lire et calibrer les axes</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OCR des graduations → relation pixel ↔ valeur</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6</a:t>
            </a:r>
          </a:p>
        </p:txBody>
      </p:sp>
      <p:sp>
        <p:nvSpPr>
          <p:cNvPr id="7" name="TextBox 6"/>
          <p:cNvSpPr txBox="1"/>
          <p:nvPr/>
        </p:nvSpPr>
        <p:spPr>
          <a:xfrm>
            <a:off x="640080" y="1417320"/>
            <a:ext cx="6949440" cy="5029200"/>
          </a:xfrm>
          <a:prstGeom prst="rect">
            <a:avLst/>
          </a:prstGeom>
          <a:noFill/>
        </p:spPr>
        <p:txBody>
          <a:bodyPr wrap="square">
            <a:spAutoFit/>
          </a:bodyPr>
          <a:lstStyle/>
          <a:p>
            <a:pPr>
              <a:spcAft>
                <a:spcPts val="900"/>
              </a:spcAft>
            </a:pPr>
            <a:r>
              <a:rPr sz="2100">
                <a:solidFill>
                  <a:srgbClr val="14233C"/>
                </a:solidFill>
              </a:rPr>
              <a:t>• Agrandissement ×4 (plafonné à 2560 px) + binarisation avant l'OCR</a:t>
            </a:r>
          </a:p>
          <a:p>
            <a:pPr>
              <a:spcAft>
                <a:spcPts val="900"/>
              </a:spcAft>
            </a:pPr>
            <a:r>
              <a:rPr sz="2100">
                <a:solidFill>
                  <a:srgbClr val="14233C"/>
                </a:solidFill>
              </a:rPr>
              <a:t>• Graduations X = même ordonnée, graduations Y = même abscisse → regroupement par alignement</a:t>
            </a:r>
          </a:p>
          <a:p>
            <a:pPr>
              <a:spcAft>
                <a:spcPts val="900"/>
              </a:spcAft>
            </a:pPr>
            <a:r>
              <a:rPr sz="2100">
                <a:solidFill>
                  <a:srgbClr val="14233C"/>
                </a:solidFill>
              </a:rPr>
              <a:t>• Ajustement valeur = a · pixel + b avec rejet des valeurs aberrantes (consensus RANSAC)</a:t>
            </a:r>
          </a:p>
          <a:p>
            <a:pPr lvl="1">
              <a:spcAft>
                <a:spcPts val="900"/>
              </a:spcAft>
            </a:pPr>
            <a:r>
              <a:rPr sz="1800">
                <a:solidFill>
                  <a:srgbClr val="555E6B"/>
                </a:solidFill>
              </a:rPr>
              <a:t>– ex. un « 5 » mal lu à la place d'un « 0 » est écarté automatiquement</a:t>
            </a:r>
          </a:p>
          <a:p>
            <a:pPr>
              <a:spcAft>
                <a:spcPts val="900"/>
              </a:spcAft>
            </a:pPr>
            <a:r>
              <a:rPr sz="2100">
                <a:solidFill>
                  <a:srgbClr val="14233C"/>
                </a:solidFill>
              </a:rPr>
              <a:t>• 2e lecture avec un autre prétraitement seulement si la calibration est peu fiable</a:t>
            </a:r>
          </a:p>
          <a:p>
            <a:pPr>
              <a:spcAft>
                <a:spcPts val="900"/>
              </a:spcAft>
            </a:pPr>
            <a:r>
              <a:rPr sz="2100">
                <a:solidFill>
                  <a:srgbClr val="14233C"/>
                </a:solidFill>
              </a:rPr>
              <a:t>• Calibration refusée si &lt; 4 graduations cohérentes (ou 3 non régulières)</a:t>
            </a:r>
          </a:p>
          <a:p>
            <a:pPr lvl="1">
              <a:spcAft>
                <a:spcPts val="900"/>
              </a:spcAft>
            </a:pPr>
            <a:r>
              <a:rPr sz="1800">
                <a:solidFill>
                  <a:srgbClr val="555E6B"/>
                </a:solidFill>
              </a:rPr>
              <a:t>– on bascule en pixels, signalé, plutôt qu'une échelle fausse</a:t>
            </a:r>
          </a:p>
        </p:txBody>
      </p:sp>
      <p:sp>
        <p:nvSpPr>
          <p:cNvPr id="8" name="Rounded Rectangle 7"/>
          <p:cNvSpPr/>
          <p:nvPr/>
        </p:nvSpPr>
        <p:spPr>
          <a:xfrm>
            <a:off x="7955279" y="1828800"/>
            <a:ext cx="3749039" cy="1097280"/>
          </a:xfrm>
          <a:prstGeom prst="roundRect">
            <a:avLst/>
          </a:prstGeom>
          <a:solidFill>
            <a:srgbClr val="555E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FFFFFF"/>
                </a:solidFill>
              </a:rPr>
              <a:t>Image</a:t>
            </a:r>
          </a:p>
          <a:p>
            <a:pPr algn="ctr"/>
            <a:r>
              <a:rPr sz="1500" b="0">
                <a:solidFill>
                  <a:srgbClr val="FFFFFF"/>
                </a:solidFill>
              </a:rPr>
              <a:t>(chiffres flous)</a:t>
            </a:r>
          </a:p>
        </p:txBody>
      </p:sp>
      <p:sp>
        <p:nvSpPr>
          <p:cNvPr id="9" name="Right Arrow 8"/>
          <p:cNvSpPr/>
          <p:nvPr/>
        </p:nvSpPr>
        <p:spPr>
          <a:xfrm rot="5400000">
            <a:off x="9601200" y="3017520"/>
            <a:ext cx="457200" cy="411480"/>
          </a:xfrm>
          <a:prstGeom prst="rightArrow">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955279" y="3566160"/>
            <a:ext cx="3749039" cy="1097280"/>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FFFFFF"/>
                </a:solidFill>
              </a:rPr>
              <a:t>OCR sur image ×4</a:t>
            </a:r>
          </a:p>
          <a:p>
            <a:pPr algn="ctr"/>
            <a:r>
              <a:rPr sz="1500" b="0">
                <a:solidFill>
                  <a:srgbClr val="FFFFFF"/>
                </a:solidFill>
              </a:rPr>
              <a:t>[0, 2, 5, 6, 8, 10]</a:t>
            </a:r>
          </a:p>
        </p:txBody>
      </p:sp>
      <p:sp>
        <p:nvSpPr>
          <p:cNvPr id="11" name="Right Arrow 10"/>
          <p:cNvSpPr/>
          <p:nvPr/>
        </p:nvSpPr>
        <p:spPr>
          <a:xfrm rot="5400000">
            <a:off x="9601200" y="4754880"/>
            <a:ext cx="457200" cy="411480"/>
          </a:xfrm>
          <a:prstGeom prst="rightArrow">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955279" y="5303520"/>
            <a:ext cx="3749039" cy="1097280"/>
          </a:xfrm>
          <a:prstGeom prst="round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FFFFFF"/>
                </a:solidFill>
              </a:rPr>
              <a:t>Ajustement robuste</a:t>
            </a:r>
          </a:p>
          <a:p>
            <a:pPr algn="ctr"/>
            <a:r>
              <a:rPr sz="1500" b="0">
                <a:solidFill>
                  <a:srgbClr val="FFFFFF"/>
                </a:solidFill>
              </a:rPr>
              <a:t>X : 0 → 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Étape 2 – Séparer les courbes colorées</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Clustering de teinte (HSV) avec MeanShift</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7</a:t>
            </a:r>
          </a:p>
        </p:txBody>
      </p:sp>
      <p:sp>
        <p:nvSpPr>
          <p:cNvPr id="7" name="TextBox 6"/>
          <p:cNvSpPr txBox="1"/>
          <p:nvPr/>
        </p:nvSpPr>
        <p:spPr>
          <a:xfrm>
            <a:off x="640080" y="1417320"/>
            <a:ext cx="6949440" cy="5029200"/>
          </a:xfrm>
          <a:prstGeom prst="rect">
            <a:avLst/>
          </a:prstGeom>
          <a:noFill/>
        </p:spPr>
        <p:txBody>
          <a:bodyPr wrap="square">
            <a:spAutoFit/>
          </a:bodyPr>
          <a:lstStyle/>
          <a:p>
            <a:pPr>
              <a:spcAft>
                <a:spcPts val="900"/>
              </a:spcAft>
            </a:pPr>
            <a:r>
              <a:rPr sz="2100">
                <a:solidFill>
                  <a:srgbClr val="14233C"/>
                </a:solidFill>
              </a:rPr>
              <a:t>• Conversion en HSV, on ne garde que les pixels saturés (S &gt; 50) : le blanc, le noir et le texte sont ignorés</a:t>
            </a:r>
          </a:p>
          <a:p>
            <a:pPr>
              <a:spcAft>
                <a:spcPts val="900"/>
              </a:spcAft>
            </a:pPr>
            <a:r>
              <a:rPr sz="2100">
                <a:solidFill>
                  <a:srgbClr val="14233C"/>
                </a:solidFill>
              </a:rPr>
              <a:t>• La teinte est un angle → projection sur un cercle (cos, sin)</a:t>
            </a:r>
          </a:p>
          <a:p>
            <a:pPr lvl="1">
              <a:spcAft>
                <a:spcPts val="900"/>
              </a:spcAft>
            </a:pPr>
            <a:r>
              <a:rPr sz="1800">
                <a:solidFill>
                  <a:srgbClr val="555E6B"/>
                </a:solidFill>
              </a:rPr>
              <a:t>– le rouge à 0° et le rouge à 179° deviennent voisins</a:t>
            </a:r>
          </a:p>
          <a:p>
            <a:pPr>
              <a:spcAft>
                <a:spcPts val="900"/>
              </a:spcAft>
            </a:pPr>
            <a:r>
              <a:rPr sz="2100">
                <a:solidFill>
                  <a:srgbClr val="14233C"/>
                </a:solidFill>
              </a:rPr>
              <a:t>• MeanShift : le nombre de courbes est trouvé automatiquement</a:t>
            </a:r>
          </a:p>
          <a:p>
            <a:pPr lvl="1">
              <a:spcAft>
                <a:spcPts val="900"/>
              </a:spcAft>
            </a:pPr>
            <a:r>
              <a:rPr sz="1800">
                <a:solidFill>
                  <a:srgbClr val="555E6B"/>
                </a:solidFill>
              </a:rPr>
              <a:t>– KMeans reste disponible si on veut forcer un nombre</a:t>
            </a:r>
          </a:p>
          <a:p>
            <a:pPr>
              <a:spcAft>
                <a:spcPts val="900"/>
              </a:spcAft>
            </a:pPr>
            <a:r>
              <a:rPr sz="2100">
                <a:solidFill>
                  <a:srgbClr val="14233C"/>
                </a:solidFill>
              </a:rPr>
              <a:t>• Clusters &lt; 100 pixels écartés (bruit de compression JPEG)</a:t>
            </a:r>
          </a:p>
          <a:p>
            <a:pPr>
              <a:spcAft>
                <a:spcPts val="900"/>
              </a:spcAft>
            </a:pPr>
            <a:r>
              <a:rPr sz="2100">
                <a:solidFill>
                  <a:srgbClr val="14233C"/>
                </a:solidFill>
              </a:rPr>
              <a:t>• Échantillon fixe de 3000 pixels, graine fixée → résultats reproductibles</a:t>
            </a:r>
          </a:p>
        </p:txBody>
      </p:sp>
      <p:pic>
        <p:nvPicPr>
          <p:cNvPr id="8" name="Picture 7" descr="test_graph_verification.png"/>
          <p:cNvPicPr>
            <a:picLocks noChangeAspect="1"/>
          </p:cNvPicPr>
          <p:nvPr/>
        </p:nvPicPr>
        <p:blipFill>
          <a:blip r:embed="rId3"/>
          <a:stretch>
            <a:fillRect/>
          </a:stretch>
        </p:blipFill>
        <p:spPr>
          <a:xfrm>
            <a:off x="7680960" y="2552700"/>
            <a:ext cx="4206240" cy="1752599"/>
          </a:xfrm>
          <a:prstGeom prst="rect">
            <a:avLst/>
          </a:prstGeom>
        </p:spPr>
      </p:pic>
      <p:sp>
        <p:nvSpPr>
          <p:cNvPr id="9" name="TextBox 8"/>
          <p:cNvSpPr txBox="1"/>
          <p:nvPr/>
        </p:nvSpPr>
        <p:spPr>
          <a:xfrm>
            <a:off x="7680960" y="5120640"/>
            <a:ext cx="4206240" cy="731520"/>
          </a:xfrm>
          <a:prstGeom prst="rect">
            <a:avLst/>
          </a:prstGeom>
          <a:noFill/>
        </p:spPr>
        <p:txBody>
          <a:bodyPr wrap="square" anchor="t">
            <a:spAutoFit/>
          </a:bodyPr>
          <a:lstStyle/>
          <a:p>
            <a:pPr algn="ctr"/>
            <a:r>
              <a:rPr sz="1400" b="0">
                <a:solidFill>
                  <a:srgbClr val="555E6B"/>
                </a:solidFill>
              </a:rPr>
              <a:t>test_graph : courbes bleue et rouge séparées automatiquement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Étape 3 – Extraire la courbe noire</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Difficile : le texte, les axes et la grille sont noirs aussi</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8</a:t>
            </a:r>
          </a:p>
        </p:txBody>
      </p:sp>
      <p:sp>
        <p:nvSpPr>
          <p:cNvPr id="7" name="Rounded Rectangle 6"/>
          <p:cNvSpPr/>
          <p:nvPr/>
        </p:nvSpPr>
        <p:spPr>
          <a:xfrm>
            <a:off x="457200" y="1737360"/>
            <a:ext cx="1920240" cy="1188720"/>
          </a:xfrm>
          <a:prstGeom prst="roundRect">
            <a:avLst/>
          </a:prstGeom>
          <a:solidFill>
            <a:srgbClr val="555E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rPr>
              <a:t>Pixels sombres</a:t>
            </a:r>
          </a:p>
        </p:txBody>
      </p:sp>
      <p:sp>
        <p:nvSpPr>
          <p:cNvPr id="8" name="Right Arrow 7"/>
          <p:cNvSpPr/>
          <p:nvPr/>
        </p:nvSpPr>
        <p:spPr>
          <a:xfrm>
            <a:off x="2423160" y="2194560"/>
            <a:ext cx="320040" cy="274320"/>
          </a:xfrm>
          <a:prstGeom prst="rightArrow">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788920" y="1737360"/>
            <a:ext cx="1920240" cy="1188720"/>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rPr>
              <a:t>– texte</a:t>
            </a:r>
          </a:p>
          <a:p>
            <a:pPr algn="ctr"/>
            <a:r>
              <a:rPr sz="1400" b="0">
                <a:solidFill>
                  <a:srgbClr val="FFFFFF"/>
                </a:solidFill>
              </a:rPr>
              <a:t>(boîtes OCR)</a:t>
            </a:r>
          </a:p>
        </p:txBody>
      </p:sp>
      <p:sp>
        <p:nvSpPr>
          <p:cNvPr id="10" name="Right Arrow 9"/>
          <p:cNvSpPr/>
          <p:nvPr/>
        </p:nvSpPr>
        <p:spPr>
          <a:xfrm>
            <a:off x="4754880" y="2194560"/>
            <a:ext cx="320040" cy="274320"/>
          </a:xfrm>
          <a:prstGeom prst="rightArrow">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120640" y="1737360"/>
            <a:ext cx="1920240" cy="1188720"/>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rPr>
              <a:t>– axes / grille</a:t>
            </a:r>
          </a:p>
          <a:p>
            <a:pPr algn="ctr"/>
            <a:r>
              <a:rPr sz="1400" b="0">
                <a:solidFill>
                  <a:srgbClr val="FFFFFF"/>
                </a:solidFill>
              </a:rPr>
              <a:t>(morphologie)</a:t>
            </a:r>
          </a:p>
        </p:txBody>
      </p:sp>
      <p:sp>
        <p:nvSpPr>
          <p:cNvPr id="12" name="Right Arrow 11"/>
          <p:cNvSpPr/>
          <p:nvPr/>
        </p:nvSpPr>
        <p:spPr>
          <a:xfrm>
            <a:off x="7086600" y="2194560"/>
            <a:ext cx="320040" cy="274320"/>
          </a:xfrm>
          <a:prstGeom prst="rightArrow">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452360" y="1737360"/>
            <a:ext cx="1920240" cy="1188720"/>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rPr>
              <a:t>– courbes colorées</a:t>
            </a:r>
          </a:p>
          <a:p>
            <a:pPr algn="ctr"/>
            <a:r>
              <a:rPr sz="1400" b="0">
                <a:solidFill>
                  <a:srgbClr val="FFFFFF"/>
                </a:solidFill>
              </a:rPr>
              <a:t>(masque dilaté)</a:t>
            </a:r>
          </a:p>
        </p:txBody>
      </p:sp>
      <p:sp>
        <p:nvSpPr>
          <p:cNvPr id="14" name="Right Arrow 13"/>
          <p:cNvSpPr/>
          <p:nvPr/>
        </p:nvSpPr>
        <p:spPr>
          <a:xfrm>
            <a:off x="9418320" y="2194560"/>
            <a:ext cx="320040" cy="274320"/>
          </a:xfrm>
          <a:prstGeom prst="rightArrow">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784080" y="1737360"/>
            <a:ext cx="1920240" cy="1188720"/>
          </a:xfrm>
          <a:prstGeom prst="round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rPr>
              <a:t>Courbe noire</a:t>
            </a:r>
          </a:p>
        </p:txBody>
      </p:sp>
      <p:sp>
        <p:nvSpPr>
          <p:cNvPr id="16" name="TextBox 15"/>
          <p:cNvSpPr txBox="1"/>
          <p:nvPr/>
        </p:nvSpPr>
        <p:spPr>
          <a:xfrm>
            <a:off x="640080" y="3383280"/>
            <a:ext cx="10972800" cy="3017520"/>
          </a:xfrm>
          <a:prstGeom prst="rect">
            <a:avLst/>
          </a:prstGeom>
          <a:noFill/>
        </p:spPr>
        <p:txBody>
          <a:bodyPr wrap="square">
            <a:spAutoFit/>
          </a:bodyPr>
          <a:lstStyle/>
          <a:p>
            <a:pPr>
              <a:spcAft>
                <a:spcPts val="900"/>
              </a:spcAft>
            </a:pPr>
            <a:r>
              <a:rPr sz="2100">
                <a:solidFill>
                  <a:srgbClr val="14233C"/>
                </a:solidFill>
              </a:rPr>
              <a:t>• Filtre du bruit : contour de longueur &gt; 20 px et étendue &gt; 30 px (flèches d'axe, restes de lettres)</a:t>
            </a:r>
          </a:p>
          <a:p>
            <a:pPr>
              <a:spcAft>
                <a:spcPts val="900"/>
              </a:spcAft>
            </a:pPr>
            <a:r>
              <a:rPr sz="2100">
                <a:solidFill>
                  <a:srgbClr val="14233C"/>
                </a:solidFill>
              </a:rPr>
              <a:t>• Piège : cv2.contourArea vaut 0 pour une ligne d'1 pixel → on utilise cv2.arcLength</a:t>
            </a:r>
          </a:p>
          <a:p>
            <a:pPr>
              <a:spcAft>
                <a:spcPts val="900"/>
              </a:spcAft>
            </a:pPr>
            <a:r>
              <a:rPr sz="2100">
                <a:solidFill>
                  <a:srgbClr val="14233C"/>
                </a:solidFill>
              </a:rPr>
              <a:t>• Les bords anti-aliasés des courbes colorées auraient formé de fausses courbes noires → masque dilaté</a:t>
            </a:r>
          </a:p>
          <a:p>
            <a:pPr>
              <a:spcAft>
                <a:spcPts val="900"/>
              </a:spcAft>
            </a:pPr>
            <a:r>
              <a:rPr sz="2100">
                <a:solidFill>
                  <a:srgbClr val="14233C"/>
                </a:solidFill>
              </a:rPr>
              <a:t>• Les courbes colorées et la courbe noire coexistent dans la même image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Étape 4 – Légendes et export</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Nommer les courbes, convertir, sauvegarder</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9</a:t>
            </a:r>
          </a:p>
        </p:txBody>
      </p:sp>
      <p:sp>
        <p:nvSpPr>
          <p:cNvPr id="7" name="TextBox 6"/>
          <p:cNvSpPr txBox="1"/>
          <p:nvPr/>
        </p:nvSpPr>
        <p:spPr>
          <a:xfrm>
            <a:off x="649912" y="1417320"/>
            <a:ext cx="10972800" cy="4937760"/>
          </a:xfrm>
          <a:prstGeom prst="rect">
            <a:avLst/>
          </a:prstGeom>
          <a:noFill/>
        </p:spPr>
        <p:txBody>
          <a:bodyPr wrap="square">
            <a:spAutoFit/>
          </a:bodyPr>
          <a:lstStyle/>
          <a:p>
            <a:pPr>
              <a:spcAft>
                <a:spcPts val="900"/>
              </a:spcAft>
            </a:pPr>
            <a:r>
              <a:rPr sz="2200">
                <a:solidFill>
                  <a:srgbClr val="14233C"/>
                </a:solidFill>
              </a:rPr>
              <a:t>• Légende : texte non numérique + pastille pleine (carré ou trait) à sa gauche</a:t>
            </a:r>
          </a:p>
          <a:p>
            <a:pPr lvl="1">
              <a:spcAft>
                <a:spcPts val="900"/>
              </a:spcAft>
            </a:pPr>
            <a:r>
              <a:rPr sz="1900">
                <a:solidFill>
                  <a:srgbClr val="555E6B"/>
                </a:solidFill>
              </a:rPr>
              <a:t>– chiffres et lettres rejetés par leur forme (remplissage, hauteur)</a:t>
            </a:r>
          </a:p>
          <a:p>
            <a:pPr>
              <a:spcAft>
                <a:spcPts val="900"/>
              </a:spcAft>
            </a:pPr>
            <a:r>
              <a:rPr sz="2200">
                <a:solidFill>
                  <a:srgbClr val="14233C"/>
                </a:solidFill>
              </a:rPr>
              <a:t>• Appariement un-pour-un courbe ↔ légende par distance de couleur RGB</a:t>
            </a:r>
          </a:p>
          <a:p>
            <a:pPr>
              <a:spcAft>
                <a:spcPts val="900"/>
              </a:spcAft>
            </a:pPr>
            <a:r>
              <a:rPr sz="2200">
                <a:solidFill>
                  <a:srgbClr val="14233C"/>
                </a:solidFill>
              </a:rPr>
              <a:t>• Sans légende exploitable : nom générique (Courbe_1, Courbe_2, …)</a:t>
            </a:r>
          </a:p>
          <a:p>
            <a:pPr>
              <a:spcAft>
                <a:spcPts val="900"/>
              </a:spcAft>
            </a:pPr>
            <a:r>
              <a:rPr sz="2200">
                <a:solidFill>
                  <a:srgbClr val="14233C"/>
                </a:solidFill>
              </a:rPr>
              <a:t>• Pixels → valeurs : moyenne des y pour chaque x (trait épais → 1 point), puis conversion par l'échelle</a:t>
            </a:r>
          </a:p>
          <a:p>
            <a:pPr>
              <a:spcAft>
                <a:spcPts val="900"/>
              </a:spcAft>
            </a:pPr>
            <a:r>
              <a:rPr sz="2200">
                <a:solidFill>
                  <a:srgbClr val="14233C"/>
                </a:solidFill>
              </a:rPr>
              <a:t>• Sortie : un .xlsx (colonnes X/Y par courbe) + une image de vérification côte à côte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Résultat – trois courbes dans un graphe</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test_graph.png (couleurs + noir)</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10</a:t>
            </a:r>
          </a:p>
        </p:txBody>
      </p:sp>
      <p:pic>
        <p:nvPicPr>
          <p:cNvPr id="7" name="Picture 6" descr="test_graph_verification.png"/>
          <p:cNvPicPr>
            <a:picLocks noChangeAspect="1"/>
          </p:cNvPicPr>
          <p:nvPr/>
        </p:nvPicPr>
        <p:blipFill>
          <a:blip r:embed="rId3"/>
          <a:stretch>
            <a:fillRect/>
          </a:stretch>
        </p:blipFill>
        <p:spPr>
          <a:xfrm>
            <a:off x="365760" y="2274570"/>
            <a:ext cx="7955279" cy="3314699"/>
          </a:xfrm>
          <a:prstGeom prst="rect">
            <a:avLst/>
          </a:prstGeom>
        </p:spPr>
      </p:pic>
      <p:sp>
        <p:nvSpPr>
          <p:cNvPr id="8" name="TextBox 7"/>
          <p:cNvSpPr txBox="1"/>
          <p:nvPr/>
        </p:nvSpPr>
        <p:spPr>
          <a:xfrm>
            <a:off x="8503920" y="1737360"/>
            <a:ext cx="3474720" cy="4572000"/>
          </a:xfrm>
          <a:prstGeom prst="rect">
            <a:avLst/>
          </a:prstGeom>
          <a:noFill/>
        </p:spPr>
        <p:txBody>
          <a:bodyPr wrap="square">
            <a:spAutoFit/>
          </a:bodyPr>
          <a:lstStyle/>
          <a:p>
            <a:pPr>
              <a:spcAft>
                <a:spcPts val="900"/>
              </a:spcAft>
            </a:pPr>
            <a:r>
              <a:rPr sz="1800">
                <a:solidFill>
                  <a:srgbClr val="14233C"/>
                </a:solidFill>
              </a:rPr>
              <a:t>• Courbes bleue, rouge et noire séparées</a:t>
            </a:r>
          </a:p>
          <a:p>
            <a:pPr>
              <a:spcAft>
                <a:spcPts val="900"/>
              </a:spcAft>
            </a:pPr>
            <a:r>
              <a:rPr sz="1800">
                <a:solidFill>
                  <a:srgbClr val="14233C"/>
                </a:solidFill>
              </a:rPr>
              <a:t>• Échelle X 0 → 10 et Y 0 → 1 lues par l'OCR</a:t>
            </a:r>
          </a:p>
          <a:p>
            <a:pPr>
              <a:spcAft>
                <a:spcPts val="900"/>
              </a:spcAft>
            </a:pPr>
            <a:r>
              <a:rPr sz="1800">
                <a:solidFill>
                  <a:srgbClr val="14233C"/>
                </a:solidFill>
              </a:rPr>
              <a:t>• Texte « 750 °C » et légende ignorés</a:t>
            </a:r>
          </a:p>
          <a:p>
            <a:pPr>
              <a:spcAft>
                <a:spcPts val="900"/>
              </a:spcAft>
            </a:pPr>
            <a:r>
              <a:rPr sz="1800">
                <a:solidFill>
                  <a:srgbClr val="14233C"/>
                </a:solidFill>
              </a:rPr>
              <a:t>• Légende en texte (Dots / Lines) : pas de pastille → noms génériques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Résultat – nuage de points</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Data_points.png</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11</a:t>
            </a:r>
          </a:p>
        </p:txBody>
      </p:sp>
      <p:pic>
        <p:nvPicPr>
          <p:cNvPr id="7" name="Picture 6" descr="Data_points_verification.png"/>
          <p:cNvPicPr>
            <a:picLocks noChangeAspect="1"/>
          </p:cNvPicPr>
          <p:nvPr/>
        </p:nvPicPr>
        <p:blipFill>
          <a:blip r:embed="rId3"/>
          <a:stretch>
            <a:fillRect/>
          </a:stretch>
        </p:blipFill>
        <p:spPr>
          <a:xfrm>
            <a:off x="365760" y="2274570"/>
            <a:ext cx="7955279" cy="3314699"/>
          </a:xfrm>
          <a:prstGeom prst="rect">
            <a:avLst/>
          </a:prstGeom>
        </p:spPr>
      </p:pic>
      <p:sp>
        <p:nvSpPr>
          <p:cNvPr id="8" name="TextBox 7"/>
          <p:cNvSpPr txBox="1"/>
          <p:nvPr/>
        </p:nvSpPr>
        <p:spPr>
          <a:xfrm>
            <a:off x="8503920" y="1737360"/>
            <a:ext cx="3474720" cy="4572000"/>
          </a:xfrm>
          <a:prstGeom prst="rect">
            <a:avLst/>
          </a:prstGeom>
          <a:noFill/>
        </p:spPr>
        <p:txBody>
          <a:bodyPr wrap="square">
            <a:spAutoFit/>
          </a:bodyPr>
          <a:lstStyle/>
          <a:p>
            <a:pPr>
              <a:spcAft>
                <a:spcPts val="900"/>
              </a:spcAft>
            </a:pPr>
            <a:r>
              <a:rPr sz="1800">
                <a:solidFill>
                  <a:srgbClr val="14233C"/>
                </a:solidFill>
              </a:rPr>
              <a:t>• Une seule série, bleue, détectée</a:t>
            </a:r>
          </a:p>
          <a:p>
            <a:pPr>
              <a:spcAft>
                <a:spcPts val="900"/>
              </a:spcAft>
            </a:pPr>
            <a:r>
              <a:rPr sz="1800">
                <a:solidFill>
                  <a:srgbClr val="14233C"/>
                </a:solidFill>
              </a:rPr>
              <a:t>• Échelle X 10 → 60 et Y 0 → 1 correctes</a:t>
            </a:r>
          </a:p>
          <a:p>
            <a:pPr>
              <a:spcAft>
                <a:spcPts val="900"/>
              </a:spcAft>
            </a:pPr>
            <a:r>
              <a:rPr sz="1800">
                <a:solidFill>
                  <a:srgbClr val="14233C"/>
                </a:solidFill>
              </a:rPr>
              <a:t>• Les points sont reliés par une ligne : on récupère la tendance, pas les points individuels</a:t>
            </a:r>
          </a:p>
          <a:p>
            <a:pPr>
              <a:spcAft>
                <a:spcPts val="900"/>
              </a:spcAft>
            </a:pPr>
            <a:r>
              <a:rPr sz="1800">
                <a:solidFill>
                  <a:srgbClr val="14233C"/>
                </a:solidFill>
              </a:rPr>
              <a:t>• Effet d'escalier : une colonne de pixels donne un seul 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Cas limite – axes en fractions de π</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image082.png : sin θ, graduations 0, π/2, π, 3π/2, 2π</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12</a:t>
            </a:r>
          </a:p>
        </p:txBody>
      </p:sp>
      <p:pic>
        <p:nvPicPr>
          <p:cNvPr id="7" name="Picture 6" descr="image082_verification.png"/>
          <p:cNvPicPr>
            <a:picLocks noChangeAspect="1"/>
          </p:cNvPicPr>
          <p:nvPr/>
        </p:nvPicPr>
        <p:blipFill>
          <a:blip r:embed="rId3"/>
          <a:stretch>
            <a:fillRect/>
          </a:stretch>
        </p:blipFill>
        <p:spPr>
          <a:xfrm>
            <a:off x="365760" y="2274570"/>
            <a:ext cx="7955279" cy="3314699"/>
          </a:xfrm>
          <a:prstGeom prst="rect">
            <a:avLst/>
          </a:prstGeom>
        </p:spPr>
      </p:pic>
      <p:sp>
        <p:nvSpPr>
          <p:cNvPr id="8" name="TextBox 7"/>
          <p:cNvSpPr txBox="1"/>
          <p:nvPr/>
        </p:nvSpPr>
        <p:spPr>
          <a:xfrm>
            <a:off x="8503920" y="1737360"/>
            <a:ext cx="3474720" cy="4572000"/>
          </a:xfrm>
          <a:prstGeom prst="rect">
            <a:avLst/>
          </a:prstGeom>
          <a:noFill/>
        </p:spPr>
        <p:txBody>
          <a:bodyPr wrap="square">
            <a:spAutoFit/>
          </a:bodyPr>
          <a:lstStyle/>
          <a:p>
            <a:pPr>
              <a:spcAft>
                <a:spcPts val="900"/>
              </a:spcAft>
            </a:pPr>
            <a:r>
              <a:rPr sz="1800">
                <a:solidFill>
                  <a:srgbClr val="14233C"/>
                </a:solidFill>
              </a:rPr>
              <a:t>• L'OCR lit « 2 » et « 3 » dans « 2π » et « 3π/2 » : pas de vraies graduations numériques</a:t>
            </a:r>
          </a:p>
          <a:p>
            <a:pPr>
              <a:spcAft>
                <a:spcPts val="900"/>
              </a:spcAft>
            </a:pPr>
            <a:r>
              <a:rPr sz="1800">
                <a:solidFill>
                  <a:srgbClr val="14233C"/>
                </a:solidFill>
              </a:rPr>
              <a:t>• Avant : une échelle fausse était acceptée</a:t>
            </a:r>
          </a:p>
          <a:p>
            <a:pPr>
              <a:spcAft>
                <a:spcPts val="900"/>
              </a:spcAft>
            </a:pPr>
            <a:r>
              <a:rPr sz="1800">
                <a:solidFill>
                  <a:srgbClr val="14233C"/>
                </a:solidFill>
              </a:rPr>
              <a:t>• Maintenant : calibration refusée → valeurs en pixels, signalé</a:t>
            </a:r>
          </a:p>
          <a:p>
            <a:pPr>
              <a:spcAft>
                <a:spcPts val="900"/>
              </a:spcAft>
            </a:pPr>
            <a:r>
              <a:rPr sz="1800">
                <a:solidFill>
                  <a:srgbClr val="14233C"/>
                </a:solidFill>
              </a:rPr>
              <a:t>• La forme de la courbe reste correcte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Sous le capot : Calibration robuste</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Extrait de main.py (fit_axis)</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13</a:t>
            </a:r>
          </a:p>
        </p:txBody>
      </p:sp>
      <p:sp>
        <p:nvSpPr>
          <p:cNvPr id="7" name="TextBox 6"/>
          <p:cNvSpPr txBox="1"/>
          <p:nvPr/>
        </p:nvSpPr>
        <p:spPr>
          <a:xfrm>
            <a:off x="457200" y="1371600"/>
            <a:ext cx="10972800" cy="1371600"/>
          </a:xfrm>
          <a:prstGeom prst="rect">
            <a:avLst/>
          </a:prstGeom>
          <a:noFill/>
        </p:spPr>
        <p:txBody>
          <a:bodyPr wrap="square">
            <a:spAutoFit/>
          </a:bodyPr>
          <a:lstStyle/>
          <a:p>
            <a:pPr>
              <a:spcAft>
                <a:spcPts val="900"/>
              </a:spcAft>
            </a:pPr>
            <a:r>
              <a:rPr sz="2000">
                <a:solidFill>
                  <a:srgbClr val="14233C"/>
                </a:solidFill>
              </a:rPr>
              <a:t>• Rejet des valeurs OCR aberrantes par consensus :</a:t>
            </a:r>
          </a:p>
          <a:p>
            <a:pPr>
              <a:spcAft>
                <a:spcPts val="900"/>
              </a:spcAft>
            </a:pPr>
            <a:r>
              <a:rPr sz="2000">
                <a:solidFill>
                  <a:srgbClr val="14233C"/>
                </a:solidFill>
              </a:rPr>
              <a:t>• On teste toutes les paires de points pour créer une droite</a:t>
            </a:r>
          </a:p>
          <a:p>
            <a:pPr>
              <a:spcAft>
                <a:spcPts val="900"/>
              </a:spcAft>
            </a:pPr>
            <a:r>
              <a:rPr sz="2000">
                <a:solidFill>
                  <a:srgbClr val="14233C"/>
                </a:solidFill>
              </a:rPr>
              <a:t>• On compte combien de points valident cette droite</a:t>
            </a:r>
          </a:p>
          <a:p>
            <a:pPr>
              <a:spcAft>
                <a:spcPts val="900"/>
              </a:spcAft>
            </a:pPr>
            <a:r>
              <a:rPr sz="2000">
                <a:solidFill>
                  <a:srgbClr val="14233C"/>
                </a:solidFill>
              </a:rPr>
              <a:t>• On garde la droite qui a le plus de consensus</a:t>
            </a:r>
          </a:p>
        </p:txBody>
      </p:sp>
      <p:sp>
        <p:nvSpPr>
          <p:cNvPr id="8" name="Rectangle 7"/>
          <p:cNvSpPr/>
          <p:nvPr/>
        </p:nvSpPr>
        <p:spPr>
          <a:xfrm>
            <a:off x="914400" y="2926080"/>
            <a:ext cx="10058400" cy="3657600"/>
          </a:xfrm>
          <a:prstGeom prst="rect">
            <a:avLst/>
          </a:prstGeom>
          <a:solidFill>
            <a:srgbClr val="282A36"/>
          </a:solidFill>
          <a:ln>
            <a:noFill/>
          </a:ln>
        </p:spPr>
        <p:style>
          <a:lnRef idx="1">
            <a:schemeClr val="accent1"/>
          </a:lnRef>
          <a:fillRef idx="3">
            <a:schemeClr val="accent1"/>
          </a:fillRef>
          <a:effectRef idx="2">
            <a:schemeClr val="accent1"/>
          </a:effectRef>
          <a:fontRef idx="minor">
            <a:schemeClr val="lt1"/>
          </a:fontRef>
        </p:style>
        <p:txBody>
          <a:bodyPr wrap="none" rtlCol="0" anchor="t"/>
          <a:lstStyle/>
          <a:p>
            <a:pPr algn="l">
              <a:spcAft>
                <a:spcPts val="200"/>
              </a:spcAft>
            </a:pPr>
            <a:r>
              <a:rPr sz="1400">
                <a:solidFill>
                  <a:srgbClr val="F8F8F2"/>
                </a:solidFill>
                <a:latin typeface="Consolas"/>
              </a:rPr>
              <a:t>def fit_axis(points, key):</a:t>
            </a:r>
          </a:p>
          <a:p>
            <a:pPr algn="l">
              <a:spcAft>
                <a:spcPts val="200"/>
              </a:spcAft>
            </a:pPr>
            <a:r>
              <a:rPr sz="1400">
                <a:solidFill>
                  <a:srgbClr val="F8F8F2"/>
                </a:solidFill>
                <a:latin typeface="Consolas"/>
              </a:rPr>
              <a:t>    # ...</a:t>
            </a:r>
          </a:p>
          <a:p>
            <a:pPr algn="l">
              <a:spcAft>
                <a:spcPts val="200"/>
              </a:spcAft>
            </a:pPr>
            <a:r>
              <a:rPr sz="1400">
                <a:solidFill>
                  <a:srgbClr val="F8F8F2"/>
                </a:solidFill>
                <a:latin typeface="Consolas"/>
              </a:rPr>
              <a:t>    best_score, best_inl = None, None</a:t>
            </a:r>
          </a:p>
          <a:p>
            <a:pPr algn="l">
              <a:spcAft>
                <a:spcPts val="200"/>
              </a:spcAft>
            </a:pPr>
            <a:r>
              <a:rPr sz="1400">
                <a:solidFill>
                  <a:srgbClr val="F8F8F2"/>
                </a:solidFill>
                <a:latin typeface="Consolas"/>
              </a:rPr>
              <a:t>    for i in range(len(pos)):</a:t>
            </a:r>
          </a:p>
          <a:p>
            <a:pPr algn="l">
              <a:spcAft>
                <a:spcPts val="200"/>
              </a:spcAft>
            </a:pPr>
            <a:r>
              <a:rPr sz="1400">
                <a:solidFill>
                  <a:srgbClr val="F8F8F2"/>
                </a:solidFill>
                <a:latin typeface="Consolas"/>
              </a:rPr>
              <a:t>        for j in range(i + 1, len(pos)):</a:t>
            </a:r>
          </a:p>
          <a:p>
            <a:pPr algn="l">
              <a:spcAft>
                <a:spcPts val="200"/>
              </a:spcAft>
            </a:pPr>
            <a:r>
              <a:rPr sz="1400">
                <a:solidFill>
                  <a:srgbClr val="F8F8F2"/>
                </a:solidFill>
                <a:latin typeface="Consolas"/>
              </a:rPr>
              <a:t>            if abs(pos[i] - pos[j]) &lt; 5 or val[i] == val[j]: continue</a:t>
            </a:r>
          </a:p>
          <a:p>
            <a:pPr algn="l">
              <a:spcAft>
                <a:spcPts val="200"/>
              </a:spcAft>
            </a:pPr>
            <a:r>
              <a:rPr sz="1400">
                <a:solidFill>
                  <a:srgbClr val="F8F8F2"/>
                </a:solidFill>
                <a:latin typeface="Consolas"/>
              </a:rPr>
              <a:t>            </a:t>
            </a:r>
          </a:p>
          <a:p>
            <a:pPr algn="l">
              <a:spcAft>
                <a:spcPts val="200"/>
              </a:spcAft>
            </a:pPr>
            <a:r>
              <a:rPr sz="1400">
                <a:solidFill>
                  <a:srgbClr val="F8F8F2"/>
                </a:solidFill>
                <a:latin typeface="Consolas"/>
              </a:rPr>
              <a:t>            # Droite passant par les points i et j</a:t>
            </a:r>
          </a:p>
          <a:p>
            <a:pPr algn="l">
              <a:spcAft>
                <a:spcPts val="200"/>
              </a:spcAft>
            </a:pPr>
            <a:r>
              <a:rPr sz="1400">
                <a:solidFill>
                  <a:srgbClr val="F8F8F2"/>
                </a:solidFill>
                <a:latin typeface="Consolas"/>
              </a:rPr>
              <a:t>            a = (val[j] - val[i]) / (pos[j] - pos[i])</a:t>
            </a:r>
          </a:p>
          <a:p>
            <a:pPr algn="l">
              <a:spcAft>
                <a:spcPts val="200"/>
              </a:spcAft>
            </a:pPr>
            <a:r>
              <a:rPr sz="1400">
                <a:solidFill>
                  <a:srgbClr val="F8F8F2"/>
                </a:solidFill>
                <a:latin typeface="Consolas"/>
              </a:rPr>
              <a:t>            b = val[i] - a * pos[i]</a:t>
            </a:r>
          </a:p>
          <a:p>
            <a:pPr algn="l">
              <a:spcAft>
                <a:spcPts val="200"/>
              </a:spcAft>
            </a:pPr>
            <a:r>
              <a:rPr sz="1400">
                <a:solidFill>
                  <a:srgbClr val="F8F8F2"/>
                </a:solidFill>
                <a:latin typeface="Consolas"/>
              </a:rPr>
              <a:t>            </a:t>
            </a:r>
          </a:p>
          <a:p>
            <a:pPr algn="l">
              <a:spcAft>
                <a:spcPts val="200"/>
              </a:spcAft>
            </a:pPr>
            <a:r>
              <a:rPr sz="1400">
                <a:solidFill>
                  <a:srgbClr val="F8F8F2"/>
                </a:solidFill>
                <a:latin typeface="Consolas"/>
              </a:rPr>
              <a:t>            # Comptage des inliers (tolérance de 4%)</a:t>
            </a:r>
          </a:p>
          <a:p>
            <a:pPr algn="l">
              <a:spcAft>
                <a:spcPts val="200"/>
              </a:spcAft>
            </a:pPr>
            <a:r>
              <a:rPr sz="1400">
                <a:solidFill>
                  <a:srgbClr val="F8F8F2"/>
                </a:solidFill>
                <a:latin typeface="Consolas"/>
              </a:rPr>
              <a:t>            inl = np.abs(a * pos + b - val) &lt;= tol</a:t>
            </a:r>
          </a:p>
          <a:p>
            <a:pPr algn="l">
              <a:spcAft>
                <a:spcPts val="200"/>
              </a:spcAft>
            </a:pPr>
            <a:r>
              <a:rPr sz="1400">
                <a:solidFill>
                  <a:srgbClr val="F8F8F2"/>
                </a:solidFill>
                <a:latin typeface="Consolas"/>
              </a:rPr>
              <a:t>            score = (int(inl.sum()), float(np.ptp(pos[inl])))</a:t>
            </a:r>
          </a:p>
          <a:p>
            <a:pPr algn="l">
              <a:spcAft>
                <a:spcPts val="200"/>
              </a:spcAft>
            </a:pPr>
            <a:r>
              <a:rPr sz="1400">
                <a:solidFill>
                  <a:srgbClr val="F8F8F2"/>
                </a:solidFill>
                <a:latin typeface="Consolas"/>
              </a:rPr>
              <a:t>            </a:t>
            </a:r>
          </a:p>
          <a:p>
            <a:pPr algn="l">
              <a:spcAft>
                <a:spcPts val="200"/>
              </a:spcAft>
            </a:pPr>
            <a:r>
              <a:rPr sz="1400">
                <a:solidFill>
                  <a:srgbClr val="F8F8F2"/>
                </a:solidFill>
                <a:latin typeface="Consolas"/>
              </a:rPr>
              <a:t>            if best_score is None or score &gt; best_score:</a:t>
            </a:r>
          </a:p>
          <a:p>
            <a:pPr algn="l">
              <a:spcAft>
                <a:spcPts val="200"/>
              </a:spcAft>
            </a:pPr>
            <a:r>
              <a:rPr sz="1400">
                <a:solidFill>
                  <a:srgbClr val="F8F8F2"/>
                </a:solidFill>
                <a:latin typeface="Consolas"/>
              </a:rPr>
              <a:t>                best_score, best_inl = score, inl</a:t>
            </a:r>
          </a:p>
          <a:p>
            <a:pPr algn="l">
              <a:spcAft>
                <a:spcPts val="200"/>
              </a:spcAft>
            </a:pPr>
            <a:r>
              <a:rPr sz="1400">
                <a:solidFill>
                  <a:srgbClr val="F8F8F2"/>
                </a:solidFill>
                <a:latin typeface="Consolas"/>
              </a:rPr>
              <a:t>                </a:t>
            </a:r>
          </a:p>
          <a:p>
            <a:pPr algn="l">
              <a:spcAft>
                <a:spcPts val="200"/>
              </a:spcAft>
            </a:pPr>
            <a:r>
              <a:rPr sz="1400">
                <a:solidFill>
                  <a:srgbClr val="F8F8F2"/>
                </a:solidFill>
                <a:latin typeface="Consolas"/>
              </a:rPr>
              <a:t>    if int(best_inl.sum()) &lt; 3: return None, 0 # Refus si pas fiable</a:t>
            </a:r>
          </a:p>
          <a:p>
            <a:pPr algn="l">
              <a:spcAft>
                <a:spcPts val="200"/>
              </a:spcAft>
            </a:pPr>
            <a:r>
              <a:rPr sz="1400">
                <a:solidFill>
                  <a:srgbClr val="F8F8F2"/>
                </a:solidFill>
                <a:latin typeface="Consolas"/>
              </a:rPr>
              <a:t>    #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Sous le capot : Séparation des couleurs</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Extrait de main.py (detect_curves)</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14</a:t>
            </a:r>
          </a:p>
        </p:txBody>
      </p:sp>
      <p:sp>
        <p:nvSpPr>
          <p:cNvPr id="7" name="TextBox 6"/>
          <p:cNvSpPr txBox="1"/>
          <p:nvPr/>
        </p:nvSpPr>
        <p:spPr>
          <a:xfrm>
            <a:off x="457200" y="1371600"/>
            <a:ext cx="10972800" cy="1371600"/>
          </a:xfrm>
          <a:prstGeom prst="rect">
            <a:avLst/>
          </a:prstGeom>
          <a:noFill/>
        </p:spPr>
        <p:txBody>
          <a:bodyPr wrap="square">
            <a:spAutoFit/>
          </a:bodyPr>
          <a:lstStyle/>
          <a:p>
            <a:pPr>
              <a:spcAft>
                <a:spcPts val="900"/>
              </a:spcAft>
            </a:pPr>
            <a:r>
              <a:rPr sz="2000">
                <a:solidFill>
                  <a:srgbClr val="14233C"/>
                </a:solidFill>
              </a:rPr>
              <a:t>• Clustering sur la teinte (HSV) :</a:t>
            </a:r>
          </a:p>
          <a:p>
            <a:pPr>
              <a:spcAft>
                <a:spcPts val="900"/>
              </a:spcAft>
            </a:pPr>
            <a:r>
              <a:rPr sz="2000">
                <a:solidFill>
                  <a:srgbClr val="14233C"/>
                </a:solidFill>
              </a:rPr>
              <a:t>• La teinte est circulaire (rouge à 0° et 179°)</a:t>
            </a:r>
          </a:p>
          <a:p>
            <a:pPr>
              <a:spcAft>
                <a:spcPts val="900"/>
              </a:spcAft>
            </a:pPr>
            <a:r>
              <a:rPr sz="2000">
                <a:solidFill>
                  <a:srgbClr val="14233C"/>
                </a:solidFill>
              </a:rPr>
              <a:t>• Projection cosinus/sinus pour éviter la cassure à 180°</a:t>
            </a:r>
          </a:p>
          <a:p>
            <a:pPr>
              <a:spcAft>
                <a:spcPts val="900"/>
              </a:spcAft>
            </a:pPr>
            <a:r>
              <a:rPr sz="2000">
                <a:solidFill>
                  <a:srgbClr val="14233C"/>
                </a:solidFill>
              </a:rPr>
              <a:t>• MeanShift découvre tout seul le nombre de courbes</a:t>
            </a:r>
          </a:p>
        </p:txBody>
      </p:sp>
      <p:sp>
        <p:nvSpPr>
          <p:cNvPr id="8" name="Rectangle 7"/>
          <p:cNvSpPr/>
          <p:nvPr/>
        </p:nvSpPr>
        <p:spPr>
          <a:xfrm>
            <a:off x="914400" y="2926080"/>
            <a:ext cx="10058400" cy="3657600"/>
          </a:xfrm>
          <a:prstGeom prst="rect">
            <a:avLst/>
          </a:prstGeom>
          <a:solidFill>
            <a:srgbClr val="282A36"/>
          </a:solidFill>
          <a:ln>
            <a:noFill/>
          </a:ln>
        </p:spPr>
        <p:style>
          <a:lnRef idx="1">
            <a:schemeClr val="accent1"/>
          </a:lnRef>
          <a:fillRef idx="3">
            <a:schemeClr val="accent1"/>
          </a:fillRef>
          <a:effectRef idx="2">
            <a:schemeClr val="accent1"/>
          </a:effectRef>
          <a:fontRef idx="minor">
            <a:schemeClr val="lt1"/>
          </a:fontRef>
        </p:style>
        <p:txBody>
          <a:bodyPr wrap="none" rtlCol="0" anchor="t"/>
          <a:lstStyle/>
          <a:p>
            <a:pPr algn="l">
              <a:spcAft>
                <a:spcPts val="200"/>
              </a:spcAft>
            </a:pPr>
            <a:r>
              <a:rPr sz="1400">
                <a:solidFill>
                  <a:srgbClr val="F8F8F2"/>
                </a:solidFill>
                <a:latin typeface="Consolas"/>
              </a:rPr>
              <a:t>def detect_curves(img, text_boxes):</a:t>
            </a:r>
          </a:p>
          <a:p>
            <a:pPr algn="l">
              <a:spcAft>
                <a:spcPts val="200"/>
              </a:spcAft>
            </a:pPr>
            <a:r>
              <a:rPr sz="1400">
                <a:solidFill>
                  <a:srgbClr val="F8F8F2"/>
                </a:solidFill>
                <a:latin typeface="Consolas"/>
              </a:rPr>
              <a:t>    hsv = cv2.cvtColor(img, cv2.COLOR_BGR2HSV)</a:t>
            </a:r>
          </a:p>
          <a:p>
            <a:pPr algn="l">
              <a:spcAft>
                <a:spcPts val="200"/>
              </a:spcAft>
            </a:pPr>
            <a:r>
              <a:rPr sz="1400">
                <a:solidFill>
                  <a:srgbClr val="F8F8F2"/>
                </a:solidFill>
                <a:latin typeface="Consolas"/>
              </a:rPr>
              <a:t>    mask = (hsv[:, :, 1] &gt; 50) &amp; (hsv[:, :, 2] &gt; 50)  # Pixels colorés</a:t>
            </a:r>
          </a:p>
          <a:p>
            <a:pPr algn="l">
              <a:spcAft>
                <a:spcPts val="200"/>
              </a:spcAft>
            </a:pPr>
            <a:r>
              <a:rPr sz="1400">
                <a:solidFill>
                  <a:srgbClr val="F8F8F2"/>
                </a:solidFill>
                <a:latin typeface="Consolas"/>
              </a:rPr>
              <a:t>    </a:t>
            </a:r>
          </a:p>
          <a:p>
            <a:pPr algn="l">
              <a:spcAft>
                <a:spcPts val="200"/>
              </a:spcAft>
            </a:pPr>
            <a:r>
              <a:rPr sz="1400">
                <a:solidFill>
                  <a:srgbClr val="F8F8F2"/>
                </a:solidFill>
                <a:latin typeface="Consolas"/>
              </a:rPr>
              <a:t>    # Teinte = angle sur un cercle (0-180 dans OpenCV)</a:t>
            </a:r>
          </a:p>
          <a:p>
            <a:pPr algn="l">
              <a:spcAft>
                <a:spcPts val="200"/>
              </a:spcAft>
            </a:pPr>
            <a:r>
              <a:rPr sz="1400">
                <a:solidFill>
                  <a:srgbClr val="F8F8F2"/>
                </a:solidFill>
                <a:latin typeface="Consolas"/>
              </a:rPr>
              <a:t>    # Projection (cos, sin) pour que rouge (0) et rouge (179) soient voisins</a:t>
            </a:r>
          </a:p>
          <a:p>
            <a:pPr algn="l">
              <a:spcAft>
                <a:spcPts val="200"/>
              </a:spcAft>
            </a:pPr>
            <a:r>
              <a:rPr sz="1400">
                <a:solidFill>
                  <a:srgbClr val="F8F8F2"/>
                </a:solidFill>
                <a:latin typeface="Consolas"/>
              </a:rPr>
              <a:t>    ang = hsv[:, :, 0][mask] * (np.pi / 90.0)</a:t>
            </a:r>
          </a:p>
          <a:p>
            <a:pPr algn="l">
              <a:spcAft>
                <a:spcPts val="200"/>
              </a:spcAft>
            </a:pPr>
            <a:r>
              <a:rPr sz="1400">
                <a:solidFill>
                  <a:srgbClr val="F8F8F2"/>
                </a:solidFill>
                <a:latin typeface="Consolas"/>
              </a:rPr>
              <a:t>    feats = np.column_stack((np.cos(ang) * 100, np.sin(ang) * 100))</a:t>
            </a:r>
          </a:p>
          <a:p>
            <a:pPr algn="l">
              <a:spcAft>
                <a:spcPts val="200"/>
              </a:spcAft>
            </a:pPr>
            <a:r>
              <a:rPr sz="1400">
                <a:solidFill>
                  <a:srgbClr val="F8F8F2"/>
                </a:solidFill>
                <a:latin typeface="Consolas"/>
              </a:rPr>
              <a:t>    </a:t>
            </a:r>
          </a:p>
          <a:p>
            <a:pPr algn="l">
              <a:spcAft>
                <a:spcPts val="200"/>
              </a:spcAft>
            </a:pPr>
            <a:r>
              <a:rPr sz="1400">
                <a:solidFill>
                  <a:srgbClr val="F8F8F2"/>
                </a:solidFill>
                <a:latin typeface="Consolas"/>
              </a:rPr>
              <a:t>    # Clustering automatique avec MeanShift</a:t>
            </a:r>
          </a:p>
          <a:p>
            <a:pPr algn="l">
              <a:spcAft>
                <a:spcPts val="200"/>
              </a:spcAft>
            </a:pPr>
            <a:r>
              <a:rPr sz="1400">
                <a:solidFill>
                  <a:srgbClr val="F8F8F2"/>
                </a:solidFill>
                <a:latin typeface="Consolas"/>
              </a:rPr>
              <a:t>    sample = rng.choice(len(feats), min(3000, len(feats)), replace=False)</a:t>
            </a:r>
          </a:p>
          <a:p>
            <a:pPr algn="l">
              <a:spcAft>
                <a:spcPts val="200"/>
              </a:spcAft>
            </a:pPr>
            <a:r>
              <a:rPr sz="1400">
                <a:solidFill>
                  <a:srgbClr val="F8F8F2"/>
                </a:solidFill>
                <a:latin typeface="Consolas"/>
              </a:rPr>
              <a:t>    labels = MeanShift(bandwidth=30, bin_seeding=True).fit(feats[sample]).predict(feats)</a:t>
            </a:r>
          </a:p>
          <a:p>
            <a:pPr algn="l">
              <a:spcAft>
                <a:spcPts val="200"/>
              </a:spcAft>
            </a:pPr>
            <a:r>
              <a:rPr sz="1400">
                <a:solidFill>
                  <a:srgbClr val="F8F8F2"/>
                </a:solidFill>
                <a:latin typeface="Consolas"/>
              </a:rPr>
              <a:t>    </a:t>
            </a:r>
          </a:p>
          <a:p>
            <a:pPr algn="l">
              <a:spcAft>
                <a:spcPts val="200"/>
              </a:spcAft>
            </a:pPr>
            <a:r>
              <a:rPr sz="1400">
                <a:solidFill>
                  <a:srgbClr val="F8F8F2"/>
                </a:solidFill>
                <a:latin typeface="Consolas"/>
              </a:rPr>
              <a:t>    for lab in np.unique(labels):</a:t>
            </a:r>
          </a:p>
          <a:p>
            <a:pPr algn="l">
              <a:spcAft>
                <a:spcPts val="200"/>
              </a:spcAft>
            </a:pPr>
            <a:r>
              <a:rPr sz="1400">
                <a:solidFill>
                  <a:srgbClr val="F8F8F2"/>
                </a:solidFill>
                <a:latin typeface="Consolas"/>
              </a:rPr>
              <a:t>        sel = labels == lab</a:t>
            </a:r>
          </a:p>
          <a:p>
            <a:pPr algn="l">
              <a:spcAft>
                <a:spcPts val="200"/>
              </a:spcAft>
            </a:pPr>
            <a:r>
              <a:rPr sz="1400">
                <a:solidFill>
                  <a:srgbClr val="F8F8F2"/>
                </a:solidFill>
                <a:latin typeface="Consolas"/>
              </a:rPr>
              <a:t>        if sel.sum() &gt;= MIN_CLUSTER_PIXELS:</a:t>
            </a:r>
          </a:p>
          <a:p>
            <a:pPr algn="l">
              <a:spcAft>
                <a:spcPts val="200"/>
              </a:spcAft>
            </a:pPr>
            <a:r>
              <a:rPr sz="1400">
                <a:solidFill>
                  <a:srgbClr val="F8F8F2"/>
                </a:solidFill>
                <a:latin typeface="Consolas"/>
              </a:rPr>
              <a:t>            curves.append({"coords": coords[sel], "color": pix_rgb[sel].mean(axis=0)})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Sous le capot : Extraction de la courbe noire</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Extrait de main.py (extract_black_curves)</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15</a:t>
            </a:r>
          </a:p>
        </p:txBody>
      </p:sp>
      <p:sp>
        <p:nvSpPr>
          <p:cNvPr id="7" name="TextBox 6"/>
          <p:cNvSpPr txBox="1"/>
          <p:nvPr/>
        </p:nvSpPr>
        <p:spPr>
          <a:xfrm>
            <a:off x="457200" y="1371600"/>
            <a:ext cx="10972800" cy="1371600"/>
          </a:xfrm>
          <a:prstGeom prst="rect">
            <a:avLst/>
          </a:prstGeom>
          <a:noFill/>
        </p:spPr>
        <p:txBody>
          <a:bodyPr wrap="square">
            <a:spAutoFit/>
          </a:bodyPr>
          <a:lstStyle/>
          <a:p>
            <a:pPr>
              <a:spcAft>
                <a:spcPts val="900"/>
              </a:spcAft>
            </a:pPr>
            <a:r>
              <a:rPr sz="2000">
                <a:solidFill>
                  <a:srgbClr val="14233C"/>
                </a:solidFill>
              </a:rPr>
              <a:t>• Extraction par soustraction :</a:t>
            </a:r>
          </a:p>
          <a:p>
            <a:pPr>
              <a:spcAft>
                <a:spcPts val="900"/>
              </a:spcAft>
            </a:pPr>
            <a:r>
              <a:rPr sz="2000">
                <a:solidFill>
                  <a:srgbClr val="14233C"/>
                </a:solidFill>
              </a:rPr>
              <a:t>• On efface le texte à l'aide des boîtes OCR</a:t>
            </a:r>
          </a:p>
          <a:p>
            <a:pPr>
              <a:spcAft>
                <a:spcPts val="900"/>
              </a:spcAft>
            </a:pPr>
            <a:r>
              <a:rPr sz="2000">
                <a:solidFill>
                  <a:srgbClr val="14233C"/>
                </a:solidFill>
              </a:rPr>
              <a:t>• On efface les axes avec la morphologie mathématique</a:t>
            </a:r>
          </a:p>
          <a:p>
            <a:pPr>
              <a:spcAft>
                <a:spcPts val="900"/>
              </a:spcAft>
            </a:pPr>
            <a:r>
              <a:rPr sz="2000">
                <a:solidFill>
                  <a:srgbClr val="14233C"/>
                </a:solidFill>
              </a:rPr>
              <a:t>• On efface les courbes colorées avec un masque dilaté</a:t>
            </a:r>
          </a:p>
        </p:txBody>
      </p:sp>
      <p:sp>
        <p:nvSpPr>
          <p:cNvPr id="8" name="Rectangle 7"/>
          <p:cNvSpPr/>
          <p:nvPr/>
        </p:nvSpPr>
        <p:spPr>
          <a:xfrm>
            <a:off x="914400" y="2926080"/>
            <a:ext cx="10058400" cy="3657600"/>
          </a:xfrm>
          <a:prstGeom prst="rect">
            <a:avLst/>
          </a:prstGeom>
          <a:solidFill>
            <a:srgbClr val="282A36"/>
          </a:solidFill>
          <a:ln>
            <a:noFill/>
          </a:ln>
        </p:spPr>
        <p:style>
          <a:lnRef idx="1">
            <a:schemeClr val="accent1"/>
          </a:lnRef>
          <a:fillRef idx="3">
            <a:schemeClr val="accent1"/>
          </a:fillRef>
          <a:effectRef idx="2">
            <a:schemeClr val="accent1"/>
          </a:effectRef>
          <a:fontRef idx="minor">
            <a:schemeClr val="lt1"/>
          </a:fontRef>
        </p:style>
        <p:txBody>
          <a:bodyPr wrap="none" rtlCol="0" anchor="t"/>
          <a:lstStyle/>
          <a:p>
            <a:pPr algn="l">
              <a:spcAft>
                <a:spcPts val="200"/>
              </a:spcAft>
            </a:pPr>
            <a:r>
              <a:rPr sz="1400">
                <a:solidFill>
                  <a:srgbClr val="F8F8F2"/>
                </a:solidFill>
                <a:latin typeface="Consolas"/>
              </a:rPr>
              <a:t>def extract_black_curves(image, text_boxes, mask_colored):</a:t>
            </a:r>
          </a:p>
          <a:p>
            <a:pPr algn="l">
              <a:spcAft>
                <a:spcPts val="200"/>
              </a:spcAft>
            </a:pPr>
            <a:r>
              <a:rPr sz="1400">
                <a:solidFill>
                  <a:srgbClr val="F8F8F2"/>
                </a:solidFill>
                <a:latin typeface="Consolas"/>
              </a:rPr>
              <a:t>    gray = cv2.cvtColor(image, cv2.COLOR_BGR2GRAY)</a:t>
            </a:r>
          </a:p>
          <a:p>
            <a:pPr algn="l">
              <a:spcAft>
                <a:spcPts val="200"/>
              </a:spcAft>
            </a:pPr>
            <a:r>
              <a:rPr sz="1400">
                <a:solidFill>
                  <a:srgbClr val="F8F8F2"/>
                </a:solidFill>
                <a:latin typeface="Consolas"/>
              </a:rPr>
              <a:t>    _, thresh = cv2.threshold(gray, 150, 255, cv2.THRESH_BINARY_INV)</a:t>
            </a:r>
          </a:p>
          <a:p>
            <a:pPr algn="l">
              <a:spcAft>
                <a:spcPts val="200"/>
              </a:spcAft>
            </a:pPr>
            <a:endParaRPr sz="1400">
              <a:solidFill>
                <a:srgbClr val="F8F8F2"/>
              </a:solidFill>
              <a:latin typeface="Consolas"/>
            </a:endParaRPr>
          </a:p>
          <a:p>
            <a:pPr algn="l">
              <a:spcAft>
                <a:spcPts val="200"/>
              </a:spcAft>
            </a:pPr>
            <a:r>
              <a:rPr sz="1400">
                <a:solidFill>
                  <a:srgbClr val="F8F8F2"/>
                </a:solidFill>
                <a:latin typeface="Consolas"/>
              </a:rPr>
              <a:t>    # 1. Gommer le texte</a:t>
            </a:r>
          </a:p>
          <a:p>
            <a:pPr algn="l">
              <a:spcAft>
                <a:spcPts val="200"/>
              </a:spcAft>
            </a:pPr>
            <a:r>
              <a:rPr sz="1400">
                <a:solidFill>
                  <a:srgbClr val="F8F8F2"/>
                </a:solidFill>
                <a:latin typeface="Consolas"/>
              </a:rPr>
              <a:t>    for x0, y0, x1, y1 in text_boxes:</a:t>
            </a:r>
          </a:p>
          <a:p>
            <a:pPr algn="l">
              <a:spcAft>
                <a:spcPts val="200"/>
              </a:spcAft>
            </a:pPr>
            <a:r>
              <a:rPr sz="1400">
                <a:solidFill>
                  <a:srgbClr val="F8F8F2"/>
                </a:solidFill>
                <a:latin typeface="Consolas"/>
              </a:rPr>
              <a:t>        cv2.rectangle(thresh, (int(x0)-5, int(y0)-5), (int(x1)+5, int(y1)+5), 0, -1)</a:t>
            </a:r>
          </a:p>
          <a:p>
            <a:pPr algn="l">
              <a:spcAft>
                <a:spcPts val="200"/>
              </a:spcAft>
            </a:pPr>
            <a:endParaRPr sz="1400">
              <a:solidFill>
                <a:srgbClr val="F8F8F2"/>
              </a:solidFill>
              <a:latin typeface="Consolas"/>
            </a:endParaRPr>
          </a:p>
          <a:p>
            <a:pPr algn="l">
              <a:spcAft>
                <a:spcPts val="200"/>
              </a:spcAft>
            </a:pPr>
            <a:r>
              <a:rPr sz="1400">
                <a:solidFill>
                  <a:srgbClr val="F8F8F2"/>
                </a:solidFill>
                <a:latin typeface="Consolas"/>
              </a:rPr>
              <a:t>    # 2. Gommer lignes droites (axes, grille) via ouverture morphologique</a:t>
            </a:r>
          </a:p>
          <a:p>
            <a:pPr algn="l">
              <a:spcAft>
                <a:spcPts val="200"/>
              </a:spcAft>
            </a:pPr>
            <a:r>
              <a:rPr sz="1400">
                <a:solidFill>
                  <a:srgbClr val="F8F8F2"/>
                </a:solidFill>
                <a:latin typeface="Consolas"/>
              </a:rPr>
              <a:t>    hl = cv2.morphologyEx(thresh, cv2.MORPH_OPEN, cv2.getStructuringElement(cv2.MORPH_RECT, (40, 1)))</a:t>
            </a:r>
          </a:p>
          <a:p>
            <a:pPr algn="l">
              <a:spcAft>
                <a:spcPts val="200"/>
              </a:spcAft>
            </a:pPr>
            <a:r>
              <a:rPr sz="1400">
                <a:solidFill>
                  <a:srgbClr val="F8F8F2"/>
                </a:solidFill>
                <a:latin typeface="Consolas"/>
              </a:rPr>
              <a:t>    vl = cv2.morphologyEx(thresh, cv2.MORPH_OPEN, cv2.getStructuringElement(cv2.MORPH_RECT, (1, 40)))</a:t>
            </a:r>
          </a:p>
          <a:p>
            <a:pPr algn="l">
              <a:spcAft>
                <a:spcPts val="200"/>
              </a:spcAft>
            </a:pPr>
            <a:r>
              <a:rPr sz="1400">
                <a:solidFill>
                  <a:srgbClr val="F8F8F2"/>
                </a:solidFill>
                <a:latin typeface="Consolas"/>
              </a:rPr>
              <a:t>    curve_only = cv2.subtract(thresh, cv2.dilate(cv2.add(hl, vl), np.ones((3,3))))</a:t>
            </a:r>
          </a:p>
          <a:p>
            <a:pPr algn="l">
              <a:spcAft>
                <a:spcPts val="200"/>
              </a:spcAft>
            </a:pPr>
            <a:endParaRPr sz="1400">
              <a:solidFill>
                <a:srgbClr val="F8F8F2"/>
              </a:solidFill>
              <a:latin typeface="Consolas"/>
            </a:endParaRPr>
          </a:p>
          <a:p>
            <a:pPr algn="l">
              <a:spcAft>
                <a:spcPts val="200"/>
              </a:spcAft>
            </a:pPr>
            <a:r>
              <a:rPr sz="1400">
                <a:solidFill>
                  <a:srgbClr val="F8F8F2"/>
                </a:solidFill>
                <a:latin typeface="Consolas"/>
              </a:rPr>
              <a:t>    # 3. Gommer courbes colorées (avec dilatation pour les bords anti-aliasés)</a:t>
            </a:r>
          </a:p>
          <a:p>
            <a:pPr algn="l">
              <a:spcAft>
                <a:spcPts val="200"/>
              </a:spcAft>
            </a:pPr>
            <a:r>
              <a:rPr sz="1400">
                <a:solidFill>
                  <a:srgbClr val="F8F8F2"/>
                </a:solidFill>
                <a:latin typeface="Consolas"/>
              </a:rPr>
              <a:t>    colored = cv2.dilate(mask_colored.astype(np.uint8)*255, np.ones((3,3)), iterations=3)</a:t>
            </a:r>
          </a:p>
          <a:p>
            <a:pPr algn="l">
              <a:spcAft>
                <a:spcPts val="200"/>
              </a:spcAft>
            </a:pPr>
            <a:r>
              <a:rPr sz="1400">
                <a:solidFill>
                  <a:srgbClr val="F8F8F2"/>
                </a:solidFill>
                <a:latin typeface="Consolas"/>
              </a:rPr>
              <a:t>    curve_only = cv2.subtract(curve_only, colored)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Difficultés rencontrées et solutions</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Ce que le développement nous a appris</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16</a:t>
            </a:r>
          </a:p>
        </p:txBody>
      </p:sp>
      <p:sp>
        <p:nvSpPr>
          <p:cNvPr id="7" name="Rounded Rectangle 6"/>
          <p:cNvSpPr/>
          <p:nvPr/>
        </p:nvSpPr>
        <p:spPr>
          <a:xfrm>
            <a:off x="457200" y="1371600"/>
            <a:ext cx="5120640" cy="566928"/>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0">
                <a:solidFill>
                  <a:srgbClr val="14233C"/>
                </a:solidFill>
              </a:rPr>
              <a:t>Chiffres d'axes illisibles par l'OCR</a:t>
            </a:r>
          </a:p>
        </p:txBody>
      </p:sp>
      <p:sp>
        <p:nvSpPr>
          <p:cNvPr id="8" name="Right Arrow 7"/>
          <p:cNvSpPr/>
          <p:nvPr/>
        </p:nvSpPr>
        <p:spPr>
          <a:xfrm>
            <a:off x="5669280" y="1490472"/>
            <a:ext cx="365760" cy="329184"/>
          </a:xfrm>
          <a:prstGeom prst="rightArrow">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126480" y="1371600"/>
            <a:ext cx="5577840" cy="566928"/>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0">
                <a:solidFill>
                  <a:srgbClr val="FFFFFF"/>
                </a:solidFill>
              </a:rPr>
              <a:t>Agrandissement ×4 + binarisation (méthode du dépôt GTE.py)</a:t>
            </a:r>
          </a:p>
        </p:txBody>
      </p:sp>
      <p:sp>
        <p:nvSpPr>
          <p:cNvPr id="10" name="Rounded Rectangle 9"/>
          <p:cNvSpPr/>
          <p:nvPr/>
        </p:nvSpPr>
        <p:spPr>
          <a:xfrm>
            <a:off x="457200" y="2066543"/>
            <a:ext cx="5120640" cy="566928"/>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0">
                <a:solidFill>
                  <a:srgbClr val="14233C"/>
                </a:solidFill>
              </a:rPr>
              <a:t>Courbe noire fusionnée avec texte/grille</a:t>
            </a:r>
          </a:p>
        </p:txBody>
      </p:sp>
      <p:sp>
        <p:nvSpPr>
          <p:cNvPr id="11" name="Right Arrow 10"/>
          <p:cNvSpPr/>
          <p:nvPr/>
        </p:nvSpPr>
        <p:spPr>
          <a:xfrm>
            <a:off x="5669280" y="2185415"/>
            <a:ext cx="365760" cy="329184"/>
          </a:xfrm>
          <a:prstGeom prst="rightArrow">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126480" y="2066543"/>
            <a:ext cx="5577840" cy="566928"/>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0">
                <a:solidFill>
                  <a:srgbClr val="FFFFFF"/>
                </a:solidFill>
              </a:rPr>
              <a:t>Soustraction : boîtes OCR, morphologie, masque coloré</a:t>
            </a:r>
          </a:p>
        </p:txBody>
      </p:sp>
      <p:sp>
        <p:nvSpPr>
          <p:cNvPr id="13" name="Rounded Rectangle 12"/>
          <p:cNvSpPr/>
          <p:nvPr/>
        </p:nvSpPr>
        <p:spPr>
          <a:xfrm>
            <a:off x="457200" y="2761487"/>
            <a:ext cx="5120640" cy="566928"/>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0">
                <a:solidFill>
                  <a:srgbClr val="14233C"/>
                </a:solidFill>
              </a:rPr>
              <a:t>Lignes fines supprimées par erreur</a:t>
            </a:r>
          </a:p>
        </p:txBody>
      </p:sp>
      <p:sp>
        <p:nvSpPr>
          <p:cNvPr id="14" name="Right Arrow 13"/>
          <p:cNvSpPr/>
          <p:nvPr/>
        </p:nvSpPr>
        <p:spPr>
          <a:xfrm>
            <a:off x="5669280" y="2880359"/>
            <a:ext cx="365760" cy="329184"/>
          </a:xfrm>
          <a:prstGeom prst="rightArrow">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126480" y="2761487"/>
            <a:ext cx="5577840" cy="566928"/>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0">
                <a:solidFill>
                  <a:srgbClr val="FFFFFF"/>
                </a:solidFill>
              </a:rPr>
              <a:t>contourArea = 0 pour 1 pixel → arcLength</a:t>
            </a:r>
          </a:p>
        </p:txBody>
      </p:sp>
      <p:sp>
        <p:nvSpPr>
          <p:cNvPr id="16" name="Rounded Rectangle 15"/>
          <p:cNvSpPr/>
          <p:nvPr/>
        </p:nvSpPr>
        <p:spPr>
          <a:xfrm>
            <a:off x="457200" y="3456431"/>
            <a:ext cx="5120640" cy="566928"/>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0">
                <a:solidFill>
                  <a:srgbClr val="14233C"/>
                </a:solidFill>
              </a:rPr>
              <a:t>Bords anti-aliasés = fausses courbes</a:t>
            </a:r>
          </a:p>
        </p:txBody>
      </p:sp>
      <p:sp>
        <p:nvSpPr>
          <p:cNvPr id="17" name="Right Arrow 16"/>
          <p:cNvSpPr/>
          <p:nvPr/>
        </p:nvSpPr>
        <p:spPr>
          <a:xfrm>
            <a:off x="5669280" y="3575303"/>
            <a:ext cx="365760" cy="329184"/>
          </a:xfrm>
          <a:prstGeom prst="rightArrow">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126480" y="3456431"/>
            <a:ext cx="5577840" cy="566928"/>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0">
                <a:solidFill>
                  <a:srgbClr val="FFFFFF"/>
                </a:solidFill>
              </a:rPr>
              <a:t>Dilatation des masques avant soustraction</a:t>
            </a:r>
          </a:p>
        </p:txBody>
      </p:sp>
      <p:sp>
        <p:nvSpPr>
          <p:cNvPr id="19" name="Rounded Rectangle 18"/>
          <p:cNvSpPr/>
          <p:nvPr/>
        </p:nvSpPr>
        <p:spPr>
          <a:xfrm>
            <a:off x="457200" y="4151375"/>
            <a:ext cx="5120640" cy="566928"/>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0">
                <a:solidFill>
                  <a:srgbClr val="14233C"/>
                </a:solidFill>
              </a:rPr>
              <a:t>Échelle OCR fausse (chiffre mal lu)</a:t>
            </a:r>
          </a:p>
        </p:txBody>
      </p:sp>
      <p:sp>
        <p:nvSpPr>
          <p:cNvPr id="20" name="Right Arrow 19"/>
          <p:cNvSpPr/>
          <p:nvPr/>
        </p:nvSpPr>
        <p:spPr>
          <a:xfrm>
            <a:off x="5669280" y="4270247"/>
            <a:ext cx="365760" cy="329184"/>
          </a:xfrm>
          <a:prstGeom prst="rightArrow">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126480" y="4151375"/>
            <a:ext cx="5577840" cy="566928"/>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0">
                <a:solidFill>
                  <a:srgbClr val="FFFFFF"/>
                </a:solidFill>
              </a:rPr>
              <a:t>Ajustement robuste + refus si peu fiable</a:t>
            </a:r>
          </a:p>
        </p:txBody>
      </p:sp>
      <p:sp>
        <p:nvSpPr>
          <p:cNvPr id="22" name="Rounded Rectangle 21"/>
          <p:cNvSpPr/>
          <p:nvPr/>
        </p:nvSpPr>
        <p:spPr>
          <a:xfrm>
            <a:off x="457200" y="4846319"/>
            <a:ext cx="5120640" cy="566928"/>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0">
                <a:solidFill>
                  <a:srgbClr val="14233C"/>
                </a:solidFill>
              </a:rPr>
              <a:t>Titre d'axe pris pour une légende</a:t>
            </a:r>
          </a:p>
        </p:txBody>
      </p:sp>
      <p:sp>
        <p:nvSpPr>
          <p:cNvPr id="23" name="Right Arrow 22"/>
          <p:cNvSpPr/>
          <p:nvPr/>
        </p:nvSpPr>
        <p:spPr>
          <a:xfrm>
            <a:off x="5669280" y="4965191"/>
            <a:ext cx="365760" cy="329184"/>
          </a:xfrm>
          <a:prstGeom prst="rightArrow">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126480" y="4846319"/>
            <a:ext cx="5577840" cy="566928"/>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0">
                <a:solidFill>
                  <a:srgbClr val="FFFFFF"/>
                </a:solidFill>
              </a:rPr>
              <a:t>Légende = texte + vraie pastille (forme testée)</a:t>
            </a:r>
          </a:p>
        </p:txBody>
      </p:sp>
      <p:sp>
        <p:nvSpPr>
          <p:cNvPr id="25" name="Rounded Rectangle 24"/>
          <p:cNvSpPr/>
          <p:nvPr/>
        </p:nvSpPr>
        <p:spPr>
          <a:xfrm>
            <a:off x="457200" y="5541263"/>
            <a:ext cx="5120640" cy="566928"/>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0">
                <a:solidFill>
                  <a:srgbClr val="14233C"/>
                </a:solidFill>
              </a:rPr>
              <a:t>Comparaison de couleurs RGB vs BGR</a:t>
            </a:r>
          </a:p>
        </p:txBody>
      </p:sp>
      <p:sp>
        <p:nvSpPr>
          <p:cNvPr id="26" name="Right Arrow 25"/>
          <p:cNvSpPr/>
          <p:nvPr/>
        </p:nvSpPr>
        <p:spPr>
          <a:xfrm>
            <a:off x="5669280" y="5660135"/>
            <a:ext cx="365760" cy="329184"/>
          </a:xfrm>
          <a:prstGeom prst="rightArrow">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126480" y="5541263"/>
            <a:ext cx="5577840" cy="566928"/>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0">
                <a:solidFill>
                  <a:srgbClr val="FFFFFF"/>
                </a:solidFill>
              </a:rPr>
              <a:t>Tout converti en RGB avant comparaison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Optimisation du code</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Réécriture de main.py</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17</a:t>
            </a:r>
          </a:p>
        </p:txBody>
      </p:sp>
      <p:sp>
        <p:nvSpPr>
          <p:cNvPr id="7" name="TextBox 6"/>
          <p:cNvSpPr txBox="1"/>
          <p:nvPr/>
        </p:nvSpPr>
        <p:spPr>
          <a:xfrm>
            <a:off x="640080" y="1417320"/>
            <a:ext cx="10972800" cy="4937760"/>
          </a:xfrm>
          <a:prstGeom prst="rect">
            <a:avLst/>
          </a:prstGeom>
          <a:noFill/>
        </p:spPr>
        <p:txBody>
          <a:bodyPr wrap="square">
            <a:spAutoFit/>
          </a:bodyPr>
          <a:lstStyle/>
          <a:p>
            <a:pPr>
              <a:spcAft>
                <a:spcPts val="900"/>
              </a:spcAft>
            </a:pPr>
            <a:r>
              <a:rPr sz="2100">
                <a:solidFill>
                  <a:srgbClr val="14233C"/>
                </a:solidFill>
              </a:rPr>
              <a:t>• Code mort et dupliqué supprimé (fonction de légendes présente deux fois), scripts de test archivés</a:t>
            </a:r>
          </a:p>
          <a:p>
            <a:pPr>
              <a:spcAft>
                <a:spcPts val="900"/>
              </a:spcAft>
            </a:pPr>
            <a:r>
              <a:rPr sz="2100">
                <a:solidFill>
                  <a:srgbClr val="14233C"/>
                </a:solidFill>
              </a:rPr>
              <a:t>• Moyenne des y par colonne vectorisée (np.unique + bincount) au lieu d'une boucle Python par colonne</a:t>
            </a:r>
          </a:p>
          <a:p>
            <a:pPr>
              <a:spcAft>
                <a:spcPts val="900"/>
              </a:spcAft>
            </a:pPr>
            <a:r>
              <a:rPr sz="2100">
                <a:solidFill>
                  <a:srgbClr val="14233C"/>
                </a:solidFill>
              </a:rPr>
              <a:t>• Concaténation unique des coordonnées au lieu d'étendre des listes de tableaux</a:t>
            </a:r>
          </a:p>
          <a:p>
            <a:pPr>
              <a:spcAft>
                <a:spcPts val="900"/>
              </a:spcAft>
            </a:pPr>
            <a:r>
              <a:rPr sz="2100">
                <a:solidFill>
                  <a:srgbClr val="14233C"/>
                </a:solidFill>
              </a:rPr>
              <a:t>• OCR : agrandissement plafonné à 2560 px, chargé à la demande, 2e lecture seulement si nécessaire</a:t>
            </a:r>
          </a:p>
          <a:p>
            <a:pPr>
              <a:spcAft>
                <a:spcPts val="900"/>
              </a:spcAft>
            </a:pPr>
            <a:r>
              <a:rPr sz="2100">
                <a:solidFill>
                  <a:srgbClr val="14233C"/>
                </a:solidFill>
              </a:rPr>
              <a:t>• Fonctions courtes à responsabilité unique (OCR, calibration, légendes, courbes, export)</a:t>
            </a:r>
          </a:p>
          <a:p>
            <a:pPr>
              <a:spcAft>
                <a:spcPts val="900"/>
              </a:spcAft>
            </a:pPr>
            <a:r>
              <a:rPr sz="2100">
                <a:solidFill>
                  <a:srgbClr val="14233C"/>
                </a:solidFill>
              </a:rPr>
              <a:t>• Un lot ne s'arrête plus si une image échoue ; résultats reproductibles (graine fixée)</a:t>
            </a:r>
          </a:p>
          <a:p>
            <a:pPr>
              <a:spcAft>
                <a:spcPts val="900"/>
              </a:spcAft>
            </a:pPr>
            <a:r>
              <a:rPr sz="2100">
                <a:solidFill>
                  <a:srgbClr val="14233C"/>
                </a:solidFill>
              </a:rPr>
              <a:t>• requirements.txt complété (matplotlib, easyocr, openpyxl manquaient)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Limites et perspectives</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Ce qui reste à faire</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18</a:t>
            </a:r>
          </a:p>
        </p:txBody>
      </p:sp>
      <p:sp>
        <p:nvSpPr>
          <p:cNvPr id="7" name="Rounded Rectangle 6"/>
          <p:cNvSpPr/>
          <p:nvPr/>
        </p:nvSpPr>
        <p:spPr>
          <a:xfrm>
            <a:off x="457200" y="1463040"/>
            <a:ext cx="5486400" cy="548640"/>
          </a:xfrm>
          <a:prstGeom prst="roundRect">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rPr>
              <a:t>Limites actuelles</a:t>
            </a:r>
          </a:p>
        </p:txBody>
      </p:sp>
      <p:sp>
        <p:nvSpPr>
          <p:cNvPr id="8" name="TextBox 7"/>
          <p:cNvSpPr txBox="1"/>
          <p:nvPr/>
        </p:nvSpPr>
        <p:spPr>
          <a:xfrm>
            <a:off x="548640" y="2194560"/>
            <a:ext cx="5486400" cy="4206240"/>
          </a:xfrm>
          <a:prstGeom prst="rect">
            <a:avLst/>
          </a:prstGeom>
          <a:noFill/>
        </p:spPr>
        <p:txBody>
          <a:bodyPr wrap="square">
            <a:spAutoFit/>
          </a:bodyPr>
          <a:lstStyle/>
          <a:p>
            <a:pPr>
              <a:spcAft>
                <a:spcPts val="900"/>
              </a:spcAft>
            </a:pPr>
            <a:r>
              <a:rPr sz="1900">
                <a:solidFill>
                  <a:srgbClr val="14233C"/>
                </a:solidFill>
              </a:rPr>
              <a:t>• Axes linéaires uniquement</a:t>
            </a:r>
          </a:p>
          <a:p>
            <a:pPr>
              <a:spcAft>
                <a:spcPts val="900"/>
              </a:spcAft>
            </a:pPr>
            <a:r>
              <a:rPr sz="1900">
                <a:solidFill>
                  <a:srgbClr val="14233C"/>
                </a:solidFill>
              </a:rPr>
              <a:t>• Une seule valeur y par x : pas de boucles ni de spirales</a:t>
            </a:r>
          </a:p>
          <a:p>
            <a:pPr>
              <a:spcAft>
                <a:spcPts val="900"/>
              </a:spcAft>
            </a:pPr>
            <a:r>
              <a:rPr sz="1900">
                <a:solidFill>
                  <a:srgbClr val="14233C"/>
                </a:solidFill>
              </a:rPr>
              <a:t>• Un seul axe Y</a:t>
            </a:r>
          </a:p>
          <a:p>
            <a:pPr>
              <a:spcAft>
                <a:spcPts val="900"/>
              </a:spcAft>
            </a:pPr>
            <a:r>
              <a:rPr sz="1900">
                <a:solidFill>
                  <a:srgbClr val="14233C"/>
                </a:solidFill>
              </a:rPr>
              <a:t>• Légendes textuelles (Dots / Lines) non exploitées</a:t>
            </a:r>
          </a:p>
          <a:p>
            <a:pPr>
              <a:spcAft>
                <a:spcPts val="900"/>
              </a:spcAft>
            </a:pPr>
            <a:r>
              <a:rPr sz="1900">
                <a:solidFill>
                  <a:srgbClr val="14233C"/>
                </a:solidFill>
              </a:rPr>
              <a:t>• Graduations non numériques (π, dates) non lues</a:t>
            </a:r>
          </a:p>
          <a:p>
            <a:pPr>
              <a:spcAft>
                <a:spcPts val="900"/>
              </a:spcAft>
            </a:pPr>
            <a:r>
              <a:rPr sz="1900">
                <a:solidFill>
                  <a:srgbClr val="14233C"/>
                </a:solidFill>
              </a:rPr>
              <a:t>• Validation visuelle : pas encore de taux de précision mesuré</a:t>
            </a:r>
          </a:p>
        </p:txBody>
      </p:sp>
      <p:sp>
        <p:nvSpPr>
          <p:cNvPr id="9" name="Rounded Rectangle 8"/>
          <p:cNvSpPr/>
          <p:nvPr/>
        </p:nvSpPr>
        <p:spPr>
          <a:xfrm>
            <a:off x="6309360" y="1463040"/>
            <a:ext cx="5486400" cy="548640"/>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rPr>
              <a:t>Perspectives</a:t>
            </a:r>
          </a:p>
        </p:txBody>
      </p:sp>
      <p:sp>
        <p:nvSpPr>
          <p:cNvPr id="10" name="TextBox 9"/>
          <p:cNvSpPr txBox="1"/>
          <p:nvPr/>
        </p:nvSpPr>
        <p:spPr>
          <a:xfrm>
            <a:off x="6400800" y="2194560"/>
            <a:ext cx="5486400" cy="4206240"/>
          </a:xfrm>
          <a:prstGeom prst="rect">
            <a:avLst/>
          </a:prstGeom>
          <a:noFill/>
        </p:spPr>
        <p:txBody>
          <a:bodyPr wrap="square">
            <a:spAutoFit/>
          </a:bodyPr>
          <a:lstStyle/>
          <a:p>
            <a:pPr>
              <a:spcAft>
                <a:spcPts val="900"/>
              </a:spcAft>
            </a:pPr>
            <a:r>
              <a:rPr sz="1900">
                <a:solidFill>
                  <a:srgbClr val="14233C"/>
                </a:solidFill>
              </a:rPr>
              <a:t>• Échelles logarithmiques : détecter l'espacement des graduations</a:t>
            </a:r>
          </a:p>
          <a:p>
            <a:pPr>
              <a:spcAft>
                <a:spcPts val="900"/>
              </a:spcAft>
            </a:pPr>
            <a:r>
              <a:rPr sz="1900">
                <a:solidFill>
                  <a:srgbClr val="14233C"/>
                </a:solidFill>
              </a:rPr>
              <a:t>• Suivi de trajectoire pour les courbes non bijectives</a:t>
            </a:r>
          </a:p>
          <a:p>
            <a:pPr>
              <a:spcAft>
                <a:spcPts val="900"/>
              </a:spcAft>
            </a:pPr>
            <a:r>
              <a:rPr sz="1900">
                <a:solidFill>
                  <a:srgbClr val="14233C"/>
                </a:solidFill>
              </a:rPr>
              <a:t>• Deux axes Y (gauche / droite)</a:t>
            </a:r>
          </a:p>
          <a:p>
            <a:pPr>
              <a:spcAft>
                <a:spcPts val="900"/>
              </a:spcAft>
            </a:pPr>
            <a:r>
              <a:rPr sz="1900">
                <a:solidFill>
                  <a:srgbClr val="14233C"/>
                </a:solidFill>
              </a:rPr>
              <a:t>• Marqueurs : retrouver les points réels au lieu d'une ligne</a:t>
            </a:r>
          </a:p>
          <a:p>
            <a:pPr>
              <a:spcAft>
                <a:spcPts val="900"/>
              </a:spcAft>
            </a:pPr>
            <a:r>
              <a:rPr sz="1900">
                <a:solidFill>
                  <a:srgbClr val="14233C"/>
                </a:solidFill>
              </a:rPr>
              <a:t>• Mesurer la précision sur des graphes de référence connus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Conclusion</a:t>
            </a:r>
          </a:p>
        </p:txBody>
      </p:sp>
      <p:sp>
        <p:nvSpPr>
          <p:cNvPr id="4" name="Rectangle 3"/>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19</a:t>
            </a:r>
          </a:p>
        </p:txBody>
      </p:sp>
      <p:sp>
        <p:nvSpPr>
          <p:cNvPr id="6" name="TextBox 5"/>
          <p:cNvSpPr txBox="1"/>
          <p:nvPr/>
        </p:nvSpPr>
        <p:spPr>
          <a:xfrm>
            <a:off x="640080" y="1554480"/>
            <a:ext cx="10972800" cy="4114800"/>
          </a:xfrm>
          <a:prstGeom prst="rect">
            <a:avLst/>
          </a:prstGeom>
          <a:noFill/>
        </p:spPr>
        <p:txBody>
          <a:bodyPr wrap="square">
            <a:spAutoFit/>
          </a:bodyPr>
          <a:lstStyle/>
          <a:p>
            <a:pPr>
              <a:spcAft>
                <a:spcPts val="900"/>
              </a:spcAft>
            </a:pPr>
            <a:r>
              <a:rPr sz="2400">
                <a:solidFill>
                  <a:srgbClr val="14233C"/>
                </a:solidFill>
              </a:rPr>
              <a:t>• Pipeline complet et automatique : image → Excel + image de contrôle</a:t>
            </a:r>
          </a:p>
          <a:p>
            <a:pPr>
              <a:spcAft>
                <a:spcPts val="900"/>
              </a:spcAft>
            </a:pPr>
            <a:r>
              <a:rPr sz="2400">
                <a:solidFill>
                  <a:srgbClr val="14233C"/>
                </a:solidFill>
              </a:rPr>
              <a:t>• Plusieurs courbes (colorées et noires) séparées et nommées quand la légende le permet</a:t>
            </a:r>
          </a:p>
          <a:p>
            <a:pPr>
              <a:spcAft>
                <a:spcPts val="900"/>
              </a:spcAft>
            </a:pPr>
            <a:r>
              <a:rPr sz="2400">
                <a:solidFill>
                  <a:srgbClr val="14233C"/>
                </a:solidFill>
              </a:rPr>
              <a:t>• Calibration robuste : refuse plutôt que d'inventer une échelle</a:t>
            </a:r>
          </a:p>
          <a:p>
            <a:pPr>
              <a:spcAft>
                <a:spcPts val="900"/>
              </a:spcAft>
            </a:pPr>
            <a:r>
              <a:rPr sz="2400">
                <a:solidFill>
                  <a:srgbClr val="14233C"/>
                </a:solidFill>
              </a:rPr>
              <a:t>• Inspirations : GTE.py (prétraitement OCR) et la méthode GraphMaster (couleurs + légendes)</a:t>
            </a:r>
          </a:p>
          <a:p>
            <a:pPr>
              <a:spcAft>
                <a:spcPts val="900"/>
              </a:spcAft>
            </a:pPr>
            <a:r>
              <a:rPr sz="2400">
                <a:solidFill>
                  <a:srgbClr val="14233C"/>
                </a:solidFill>
              </a:rPr>
              <a:t>• Prochaines étapes : axes logarithmiques, courbes non bijectives, double axe Y, mesure de précision</a:t>
            </a:r>
          </a:p>
        </p:txBody>
      </p:sp>
      <p:sp>
        <p:nvSpPr>
          <p:cNvPr id="7" name="TextBox 6"/>
          <p:cNvSpPr txBox="1"/>
          <p:nvPr/>
        </p:nvSpPr>
        <p:spPr>
          <a:xfrm>
            <a:off x="640080" y="5669280"/>
            <a:ext cx="10972800" cy="548640"/>
          </a:xfrm>
          <a:prstGeom prst="rect">
            <a:avLst/>
          </a:prstGeom>
          <a:noFill/>
        </p:spPr>
        <p:txBody>
          <a:bodyPr wrap="square" anchor="t">
            <a:spAutoFit/>
          </a:bodyPr>
          <a:lstStyle/>
          <a:p>
            <a:pPr algn="l"/>
            <a:r>
              <a:rPr sz="2800" b="1">
                <a:solidFill>
                  <a:srgbClr val="1F9E9A"/>
                </a:solidFill>
              </a:rPr>
              <a:t>Merci – questions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3333</Words>
  <Application>Microsoft Office PowerPoint</Application>
  <PresentationFormat>Widescreen</PresentationFormat>
  <Paragraphs>267</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Haitam Ourtane</dc:creator>
  <cp:keywords/>
  <dc:description>generated using python-pptx</dc:description>
  <cp:lastModifiedBy>Haitam Ourtane</cp:lastModifiedBy>
  <cp:revision>3</cp:revision>
  <dcterms:created xsi:type="dcterms:W3CDTF">2013-01-27T09:14:16Z</dcterms:created>
  <dcterms:modified xsi:type="dcterms:W3CDTF">2026-10-07T12:58:54Z</dcterms:modified>
  <cp:category/>
</cp:coreProperties>
</file>